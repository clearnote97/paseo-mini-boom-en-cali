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Puntaje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Viajero</c:v>
                </c:pt>
                <c:pt idx="1">
                  <c:v>La Palmera</c:v>
                </c:pt>
                <c:pt idx="2">
                  <c:v>Oasis Cali</c:v>
                </c:pt>
                <c:pt idx="3">
                  <c:v>La Chanca</c:v>
                </c:pt>
                <c:pt idx="4">
                  <c:v>Hostal Patio del Río</c:v>
                </c:pt>
                <c:pt idx="5">
                  <c:v>Casa/Apto entero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77.6</c:v>
                </c:pt>
                <c:pt idx="1">
                  <c:v>75.8</c:v>
                </c:pt>
                <c:pt idx="2">
                  <c:v>75.4</c:v>
                </c:pt>
                <c:pt idx="3">
                  <c:v>74.8</c:v>
                </c:pt>
                <c:pt idx="4">
                  <c:v>72.8</c:v>
                </c:pt>
                <c:pt idx="5">
                  <c:v>71.2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 persona (COP)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cat>
            <c:strRef>
              <c:f>Sheet1!$A$2:$A$4</c:f>
              <c:strCache>
                <c:ptCount val="3"/>
                <c:pt idx="0">
                  <c:v>Carro todo el viaje</c:v>
                </c:pt>
                <c:pt idx="1">
                  <c:v>Carro solo 3 días</c:v>
                </c:pt>
                <c:pt idx="2">
                  <c:v>Sin carro propio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150000</c:v>
                </c:pt>
                <c:pt idx="1">
                  <c:v>140000</c:v>
                </c:pt>
                <c:pt idx="2">
                  <c:v>125000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Relationship Id="rId8" Type="http://schemas.openxmlformats.org/officeDocument/2006/relationships/hyperlink" Target="https://farallonesrentacar.com/listavehiculos/" TargetMode="External"/><Relationship Id="rId9" Type="http://schemas.openxmlformats.org/officeDocument/2006/relationships/hyperlink" Target="https://waycarcali.com/" TargetMode="External"/><Relationship Id="rId10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_cartagen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640080"/>
            <a:ext cx="175260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32120" y="8686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B5765C"/>
                </a:solidFill>
              </a:rPr>
              <a:t>→</a:t>
            </a:r>
          </a:p>
        </p:txBody>
      </p:sp>
      <p:pic>
        <p:nvPicPr>
          <p:cNvPr id="4" name="Picture 3" descr="flag_cali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640080"/>
            <a:ext cx="157734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783080"/>
            <a:ext cx="5788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de Cartagena a Cali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926080"/>
            <a:ext cx="12191695" cy="128016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Mini-Boom en Cali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8F5A44"/>
                </a:solidFill>
              </a:rPr>
              <a:t>Dossier de logística · transporte y estadía para siete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7A6E"/>
                </a:solidFill>
              </a:rPr>
              <a:t>7 personas   ·   30 oct – 2 nov 2026 (viernes a lunes · 3 noches)</a:t>
            </a:r>
          </a:p>
          <a:p>
            <a:pPr algn="ctr"/>
            <a:r>
              <a:rPr sz="1400" b="0">
                <a:solidFill>
                  <a:srgbClr val="8A7A6E"/>
                </a:solidFill>
              </a:rPr>
              <a:t>Salida 30 oct 7:00 am de Cartagena · regreso en vuelo 9:00 pm del 2 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   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63A32"/>
                </a:solidFill>
              </a:rPr>
              <a:t>Siete personas, tres noches, una ciudad que premia al que planea. Fin de semana de Halloween.</a:t>
            </a:r>
          </a:p>
          <a:p>
            <a:pPr algn="l"/>
            <a:r>
              <a:rPr sz="20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2000" b="0">
                <a:solidFill>
                  <a:srgbClr val="463A32"/>
                </a:solidFill>
              </a:rPr>
              <a:t>Salida 7:00 am del 30 desde Cartagena; regreso en el vuelo de las 9:00 pm del 2. El reto no es</a:t>
            </a:r>
          </a:p>
          <a:p>
            <a:pPr algn="l"/>
            <a:r>
              <a:rPr sz="2000" b="0">
                <a:solidFill>
                  <a:srgbClr val="463A32"/>
                </a:solidFill>
              </a:rPr>
              <a:t>llegar, sino movernos por Cali y dónde dormir.</a:t>
            </a:r>
          </a:p>
          <a:p>
            <a:pPr algn="l"/>
            <a:r>
              <a:rPr sz="20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2000" b="0">
                <a:solidFill>
                  <a:srgbClr val="463A32"/>
                </a:solidFill>
              </a:rPr>
              <a:t>Margen: $300.000–$400.000 por persona (flex $480.000). Condición innegociable: la seguridad primero.</a:t>
            </a:r>
          </a:p>
          <a:p>
            <a:pPr algn="l"/>
            <a:r>
              <a:rPr sz="2000" b="0">
                <a:solidFill>
                  <a:srgbClr val="463A32"/>
                </a:solidFill>
              </a:rPr>
              <a:t>Después: piscina, aire, cocina y rumba a distancia de caminar.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   Cómo se hizo 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63A32"/>
                </a:solidFill>
              </a:rPr>
              <a:t>Un pequeño proyecto de datos, no a ojo:</a:t>
            </a:r>
          </a:p>
          <a:p>
            <a:pPr algn="l"/>
            <a:r>
              <a:rPr sz="19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900" b="0">
                <a:solidFill>
                  <a:srgbClr val="463A32"/>
                </a:solidFill>
              </a:rPr>
              <a:t>1. Primero la vara: los pesos de cada criterio (seguridad al frente) antes de ver un solo precio.</a:t>
            </a:r>
          </a:p>
          <a:p>
            <a:pPr algn="l"/>
            <a:r>
              <a:rPr sz="1900" b="0">
                <a:solidFill>
                  <a:srgbClr val="463A32"/>
                </a:solidFill>
              </a:rPr>
              <a:t>2. Precios reales: un navegador automatizado recorrió Hostelworld con las fechas y siete huéspedes;</a:t>
            </a:r>
          </a:p>
          <a:p>
            <a:pPr algn="l"/>
            <a:r>
              <a:rPr sz="1900" b="0">
                <a:solidFill>
                  <a:srgbClr val="463A32"/>
                </a:solidFill>
              </a:rPr>
              <a:t>     el transporte, contra Kayak y agencias locales.</a:t>
            </a:r>
          </a:p>
          <a:p>
            <a:pPr algn="l"/>
            <a:r>
              <a:rPr sz="1900" b="0">
                <a:solidFill>
                  <a:srgbClr val="463A32"/>
                </a:solidFill>
              </a:rPr>
              <a:t>3. Un puntaje propio y auditable para la estadía, aparte de la calificación de huéspedes.</a:t>
            </a:r>
          </a:p>
          <a:p>
            <a:pPr algn="l"/>
            <a:r>
              <a:rPr sz="1900" b="0">
                <a:solidFill>
                  <a:srgbClr val="463A32"/>
                </a:solidFill>
              </a:rPr>
              <a:t>4. Una sola fuente de datos genera los cuatro documentos: cambiar un número los actualiza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   Geografía de la seguridad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B9B5E"/>
                </a:solidFill>
              </a:rPr>
              <a:t>Donde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63A32"/>
                </a:solidFill>
              </a:rPr>
              <a:t>•  San Antonio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•  Granada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•  El Peñón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•  Santa Teresita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•  Ciudad Jardín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5765C"/>
                </a:solidFill>
              </a:rPr>
              <a:t>Donde 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63A32"/>
                </a:solidFill>
              </a:rPr>
              <a:t>•  Aguablanca (oriente)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•  Siloé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•  Terrón Colorado (ladera oeste alta)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   Cómo se puntuó la estadía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3A32"/>
                </a:solidFill>
              </a:rPr>
              <a:t>La calificación de huéspedes (9.6, 9.8…) es un dato externo. El puntaje de 0 a 100 es propio:</a:t>
            </a:r>
          </a:p>
          <a:p>
            <a:pPr algn="l"/>
            <a:r>
              <a:rPr sz="1600" b="0">
                <a:solidFill>
                  <a:srgbClr val="463A32"/>
                </a:solidFill>
              </a:rPr>
              <a:t>una nota de 1 a 5 por criterio, multiplicada por su peso.   Puntaje = suma de (peso × nota⁄5).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331720"/>
          <a:ext cx="105156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188720"/>
                <a:gridCol w="5394960"/>
              </a:tblGrid>
              <a:tr h="535577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Criterio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Peso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Cómo se asigna la nota (de 1 a 5)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Seguridad del barrio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63A32"/>
                          </a:solidFill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Por zona (San Antonio / Granada / El Peñón = 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Amenidades y comodidad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63A32"/>
                          </a:solidFill>
                        </a:rPr>
                        <a:t>20%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Aire +2, piscina +2, cocina +1 (tope 5)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Precio por persona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63A32"/>
                          </a:solidFill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El más barato = 5; lineal hasta el más caro =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Cercanía a zona turística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63A32"/>
                          </a:solidFill>
                        </a:rPr>
                        <a:t>12%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Qué tan a pie queda de lo turístico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Parqueadero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63A32"/>
                          </a:solidFill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Disponibilidad estimada (baja certeza)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Ambiente social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63A32"/>
                          </a:solidFill>
                        </a:rPr>
                        <a:t>8%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63A32"/>
                          </a:solidFill>
                        </a:rPr>
                        <a:t>Facilidad para conocer gente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   Estadía — los finalistas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280160"/>
          <a:ext cx="76809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503920" y="173736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F5A44"/>
                </a:solidFill>
              </a:rPr>
              <a:t>Viajero Hostel &amp; Salsa School lidera con 77.6/100.</a:t>
            </a:r>
          </a:p>
          <a:p>
            <a:pPr algn="l"/>
            <a:r>
              <a:rPr sz="1600" b="0">
                <a:solidFill>
                  <a:srgbClr val="8F5A44"/>
                </a:solidFill>
              </a:rPr>
              <a:t/>
            </a:r>
          </a:p>
          <a:p>
            <a:pPr algn="l"/>
            <a:r>
              <a:rPr sz="1600" b="0">
                <a:solidFill>
                  <a:srgbClr val="8F5A44"/>
                </a:solidFill>
              </a:rPr>
              <a:t>Puntaje propio (seguridad 30%, amenidades, precio, cercanía, parqueo, social), no la calificación externa.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   ¿El carro en el aeropuerto o en la ciudad?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8F5A44"/>
                </a:solidFill>
              </a:rPr>
              <a:t>En el aeropuerto.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63A32"/>
                </a:solidFill>
              </a:rPr>
              <a:t>No hay que elegir entre barato y cómodo. Hay agencias locales —más económicas que las marcas grandes— que tienen oficina en el propio aeropuerto (Farallones) o llevan el carro hasta allá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sin costo si el alquiler es de 3 días o más (WayCarCali).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Se aterriza, se recoge el carro ahí mismo y se devuelve en el aeropuerto antes de volar.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Ir a la ciudad a buscarlo solo sumaría un taxi y tiempo, sin ahorrar nada.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El carro se cobra por días de 24 h; conservarlo hasta el vuelo de la noche suma un cuarto día,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pero cubre el tramo entre dejar el hostal y volar, con las maletas encima.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   Cuánto carro llevar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28016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64592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F5A44"/>
                </a:solidFill>
              </a:rPr>
              <a:t>★ Recomendado: carro propio todo el viaje, $150.000 por persona.</a:t>
            </a:r>
          </a:p>
          <a:p>
            <a:pPr algn="l"/>
            <a:r>
              <a:rPr sz="1600" b="0">
                <a:solidFill>
                  <a:srgbClr val="8F5A44"/>
                </a:solidFill>
              </a:rPr>
              <a:t/>
            </a:r>
          </a:p>
          <a:p>
            <a:pPr algn="l"/>
            <a:r>
              <a:rPr sz="1600" b="0">
                <a:solidFill>
                  <a:srgbClr val="8F5A44"/>
                </a:solidFill>
              </a:rPr>
              <a:t>Ahorro máximo sin carro propio: $125.000.</a:t>
            </a:r>
          </a:p>
          <a:p>
            <a:pPr algn="l"/>
            <a:r>
              <a:rPr sz="1600" b="0">
                <a:solidFill>
                  <a:srgbClr val="8F5A44"/>
                </a:solidFill>
              </a:rPr>
              <a:t/>
            </a:r>
          </a:p>
          <a:p>
            <a:pPr algn="l"/>
            <a:r>
              <a:rPr sz="1600" b="0">
                <a:solidFill>
                  <a:srgbClr val="8F5A44"/>
                </a:solidFill>
              </a:rPr>
              <a:t>El mostrador de las marcas grandes costaría casi el doble: no hace falta.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57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La recomendación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143000"/>
          </a:xfrm>
          <a:prstGeom prst="rect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463A32"/>
                </a:solidFill>
              </a:rPr>
              <a:t>Viajero Hostel &amp; Salsa School  +  carro propio todo el viaje  ≈  $402.282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Hostal que dice sí a todo (seguridad, piscina, aire, bar, rumba y salsa para conocer gente) y una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movilidad sin vueltas a la ciudad ni hueco final con maletas.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• Ahorro: moverse sin carro propio = $377.282 — entra en meta.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• No pasar de 400 mil en estadía: Patio del Río = $339.750 (piscina + aire).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B57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   Antes de reservar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63A32"/>
                </a:solidFill>
              </a:rPr>
              <a:t>1. Estadía: confirmar si el precio es por persona o por habitación, y capacidad para 7 (camas ≥5).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2. Carro: llamar por WhatsApp a Farallones o WayCarCali para cerrar la van de 7 puestos y la entrega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     en el aeropuerto.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3. Confirmar el precio del cuarto día para conservar el carro hasta el vuelo de la noche.</a:t>
            </a:r>
          </a:p>
          <a:p>
            <a:pPr algn="l"/>
            <a:r>
              <a:rPr sz="1800" b="0">
                <a:solidFill>
                  <a:srgbClr val="463A32"/>
                </a:solidFill>
              </a:rPr>
              <a:t>4. Reservar pronto: cinco semanas y fin de semana de Halloween.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8A7A6E"/>
                </a:solidFill>
              </a:rPr>
              <a:t>Estadía:  </a:t>
            </a:r>
            <a:r>
              <a:rPr sz="1300">
                <a:solidFill>
                  <a:srgbClr val="8F5A44"/>
                </a:solidFill>
                <a:hlinkClick r:id="rId2"/>
              </a:rPr>
              <a:t>Viajero Hostel &amp; Salsa School   </a:t>
            </a:r>
            <a:r>
              <a:rPr sz="1300">
                <a:solidFill>
                  <a:srgbClr val="8F5A44"/>
                </a:solidFill>
                <a:hlinkClick r:id="rId3"/>
              </a:rPr>
              <a:t>La Palmera Hostel   </a:t>
            </a:r>
            <a:r>
              <a:rPr sz="1300">
                <a:solidFill>
                  <a:srgbClr val="8F5A44"/>
                </a:solidFill>
                <a:hlinkClick r:id="rId4"/>
              </a:rPr>
              <a:t>Oasis Cali Hostel   </a:t>
            </a:r>
            <a:r>
              <a:rPr sz="1300">
                <a:solidFill>
                  <a:srgbClr val="8F5A44"/>
                </a:solidFill>
                <a:hlinkClick r:id="rId5"/>
              </a:rPr>
              <a:t>La Chanca Hostel   </a:t>
            </a:r>
            <a:r>
              <a:rPr sz="1300">
                <a:solidFill>
                  <a:srgbClr val="8F5A44"/>
                </a:solidFill>
                <a:hlinkClick r:id="rId6"/>
              </a:rPr>
              <a:t>Hostal Patio del Río   </a:t>
            </a:r>
            <a:r>
              <a:rPr sz="1300">
                <a:solidFill>
                  <a:srgbClr val="8F5A44"/>
                </a:solidFill>
                <a:hlinkClick r:id="rId7"/>
              </a:rPr>
              <a:t>Casa/Apto entero   </a:t>
            </a:r>
          </a:p>
          <a:p>
            <a:r>
              <a:rPr sz="1300">
                <a:solidFill>
                  <a:srgbClr val="8A7A6E"/>
                </a:solidFill>
              </a:rPr>
              <a:t>Carro:  </a:t>
            </a:r>
            <a:r>
              <a:rPr sz="1300">
                <a:solidFill>
                  <a:srgbClr val="8F5A44"/>
                </a:solidFill>
                <a:hlinkClick r:id="rId8"/>
              </a:rPr>
              <a:t>Farallones   </a:t>
            </a:r>
            <a:r>
              <a:rPr sz="1300">
                <a:solidFill>
                  <a:srgbClr val="8F5A44"/>
                </a:solidFill>
                <a:hlinkClick r:id="rId9"/>
              </a:rPr>
              <a:t>WayCarCali   </a:t>
            </a:r>
            <a:r>
              <a:rPr sz="1300">
                <a:solidFill>
                  <a:srgbClr val="8F5A44"/>
                </a:solidFill>
                <a:hlinkClick r:id="rId10"/>
              </a:rPr>
              <a:t>Kayak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7A6E"/>
                </a:solidFill>
              </a:rPr>
              <a:t>Documentos hermanos: Mini-Boom-en-Cali_Informe-completo.md · Mini-Boom-en-Cali_Resumen-ejecutivo.pdf · Mini-Boom-en-Cali_Resultados.xlsx · Mini-Boom-en-Cali_Presentacion.pptx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