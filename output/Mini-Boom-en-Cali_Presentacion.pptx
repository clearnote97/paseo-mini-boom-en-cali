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D9A75E"/>
              </a:solidFill>
            </c:spPr>
          </c:dPt>
          <c:dPt>
            <c:idx val="1"/>
            <c:spPr>
              <a:solidFill>
                <a:srgbClr val="D8C4B2"/>
              </a:solidFill>
            </c:spPr>
          </c:dPt>
          <c:dPt>
            <c:idx val="2"/>
            <c:spPr>
              <a:solidFill>
                <a:srgbClr val="D8C4B2"/>
              </a:solidFill>
            </c:spPr>
          </c:dPt>
          <c:dPt>
            <c:idx val="3"/>
            <c:spPr>
              <a:solidFill>
                <a:srgbClr val="D8C4B2"/>
              </a:solidFill>
            </c:spPr>
          </c:dPt>
          <c:dPt>
            <c:idx val="4"/>
            <c:spPr>
              <a:solidFill>
                <a:srgbClr val="D8C4B2"/>
              </a:solidFill>
            </c:spPr>
          </c:dPt>
          <c:dPt>
            <c:idx val="5"/>
            <c:spPr>
              <a:solidFill>
                <a:srgbClr val="D8C4B2"/>
              </a:solidFill>
            </c:spPr>
          </c:dPt>
          <c:cat>
            <c:strRef>
              <c:f>Sheet1!$A$2:$A$7</c:f>
              <c:strCache>
                <c:ptCount val="6"/>
                <c:pt idx="0">
                  <c:v>Viajero</c:v>
                </c:pt>
                <c:pt idx="1">
                  <c:v>La Palmera</c:v>
                </c:pt>
                <c:pt idx="2">
                  <c:v>Oasis Cali</c:v>
                </c:pt>
                <c:pt idx="3">
                  <c:v>La Chanca</c:v>
                </c:pt>
                <c:pt idx="4">
                  <c:v>Hostal Patio del Río</c:v>
                </c:pt>
                <c:pt idx="5">
                  <c:v>Casa/Apto entero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77.6</c:v>
                </c:pt>
                <c:pt idx="1">
                  <c:v>75.8</c:v>
                </c:pt>
                <c:pt idx="2">
                  <c:v>75.4</c:v>
                </c:pt>
                <c:pt idx="3">
                  <c:v>74.8</c:v>
                </c:pt>
                <c:pt idx="4">
                  <c:v>72.8</c:v>
                </c:pt>
                <c:pt idx="5">
                  <c:v>71.2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D8C4B2"/>
              </a:solidFill>
            </c:spPr>
          </c:dPt>
          <c:dPt>
            <c:idx val="1"/>
            <c:spPr>
              <a:solidFill>
                <a:srgbClr val="D9A75E"/>
              </a:solidFill>
            </c:spPr>
          </c:dPt>
          <c:dPt>
            <c:idx val="2"/>
            <c:spPr>
              <a:solidFill>
                <a:srgbClr val="D8C4B2"/>
              </a:solidFill>
            </c:spPr>
          </c:dPt>
          <c:dPt>
            <c:idx val="3"/>
            <c:spPr>
              <a:solidFill>
                <a:srgbClr val="D8C4B2"/>
              </a:solidFill>
            </c:spPr>
          </c:dPt>
          <c:cat>
            <c:strRef>
              <c:f>Sheet1!$A$2:$A$5</c:f>
              <c:strCache>
                <c:ptCount val="4"/>
                <c:pt idx="0">
                  <c:v>Apto Granada/Chipichape</c:v>
                </c:pt>
                <c:pt idx="1">
                  <c:v>Apto La Flora (7 camas)</c:v>
                </c:pt>
                <c:pt idx="2">
                  <c:v>Casa-museo S.Antonio</c:v>
                </c:pt>
                <c:pt idx="3">
                  <c:v>Torre Gardes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77.2</c:v>
                </c:pt>
                <c:pt idx="1">
                  <c:v>74.6</c:v>
                </c:pt>
                <c:pt idx="2">
                  <c:v>67.6</c:v>
                </c:pt>
                <c:pt idx="3">
                  <c:v>66.8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hostelworld.com/hostels/p/73676/viajero-cali-hostel-and-salsa-school/" TargetMode="External"/><Relationship Id="rId3" Type="http://schemas.openxmlformats.org/officeDocument/2006/relationships/hyperlink" Target="https://www.hostelworld.com/hostels/p/314482/la-palmera-hostel/" TargetMode="External"/><Relationship Id="rId4" Type="http://schemas.openxmlformats.org/officeDocument/2006/relationships/hyperlink" Target="https://www.hostelworld.com/hostels/p/284050/oasis-cali-hostel/" TargetMode="External"/><Relationship Id="rId5" Type="http://schemas.openxmlformats.org/officeDocument/2006/relationships/hyperlink" Target="https://www.hostelworld.com/hostels/p/329092/la-chanca-hostel/" TargetMode="External"/><Relationship Id="rId6" Type="http://schemas.openxmlformats.org/officeDocument/2006/relationships/hyperlink" Target="https://www.hostelworld.com/hostels/p/323610/hostal-patio-del-rio/" TargetMode="External"/><Relationship Id="rId7" Type="http://schemas.openxmlformats.org/officeDocument/2006/relationships/hyperlink" Target="https://www.airbnb.com/s/San-Antonio--Cali--Valle-del-Cauca/homes?checkin=2026-10-30&amp;checkout=2026-11-02&amp;adults=7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irbnb.com/rooms/1470314362888330685" TargetMode="External"/><Relationship Id="rId3" Type="http://schemas.openxmlformats.org/officeDocument/2006/relationships/hyperlink" Target="https://www.airbnb.com/rooms/1192253493415245874" TargetMode="External"/><Relationship Id="rId4" Type="http://schemas.openxmlformats.org/officeDocument/2006/relationships/hyperlink" Target="https://www.airbnb.com/rooms/1548961086363759352" TargetMode="External"/><Relationship Id="rId5" Type="http://schemas.openxmlformats.org/officeDocument/2006/relationships/hyperlink" Target="https://www.airbnb.com/rooms/1693694879035428775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arallonesrentacar.com/car-model/captiva-turbo-7-puestos/" TargetMode="External"/><Relationship Id="rId3" Type="http://schemas.openxmlformats.org/officeDocument/2006/relationships/hyperlink" Target="https://farallonesrentacar.com/listavehiculos/" TargetMode="External"/><Relationship Id="rId4" Type="http://schemas.openxmlformats.org/officeDocument/2006/relationships/hyperlink" Target="https://waycarcali.com/" TargetMode="External"/><Relationship Id="rId5" Type="http://schemas.openxmlformats.org/officeDocument/2006/relationships/hyperlink" Target="https://www.kayak.com.co/cars/Santiago-de-Cali,Colombia-c11092/2026-10-30/2026-11-02;map?fs=carcapacity=precise_7;carlocationid=~CLO&amp;ucs=9x1xcq&amp;sort=rank_a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hostelworld.com/hostels/p/73676/viajero-cali-hostel-and-salsa-school/" TargetMode="External"/><Relationship Id="rId3" Type="http://schemas.openxmlformats.org/officeDocument/2006/relationships/hyperlink" Target="https://www.hostelworld.com/hostels/p/314482/la-palmera-hostel/" TargetMode="External"/><Relationship Id="rId4" Type="http://schemas.openxmlformats.org/officeDocument/2006/relationships/hyperlink" Target="https://www.hostelworld.com/hostels/p/284050/oasis-cali-hostel/" TargetMode="External"/><Relationship Id="rId5" Type="http://schemas.openxmlformats.org/officeDocument/2006/relationships/hyperlink" Target="https://www.hostelworld.com/hostels/p/329092/la-chanca-hostel/" TargetMode="External"/><Relationship Id="rId6" Type="http://schemas.openxmlformats.org/officeDocument/2006/relationships/hyperlink" Target="https://www.hostelworld.com/hostels/p/323610/hostal-patio-del-rio/" TargetMode="External"/><Relationship Id="rId7" Type="http://schemas.openxmlformats.org/officeDocument/2006/relationships/hyperlink" Target="https://www.airbnb.com/s/San-Antonio--Cali--Valle-del-Cauca/homes?checkin=2026-10-30&amp;checkout=2026-11-02&amp;adults=7" TargetMode="External"/><Relationship Id="rId8" Type="http://schemas.openxmlformats.org/officeDocument/2006/relationships/hyperlink" Target="https://farallonesrentacar.com/listavehiculos/" TargetMode="External"/><Relationship Id="rId9" Type="http://schemas.openxmlformats.org/officeDocument/2006/relationships/hyperlink" Target="https://waycarcali.com/" TargetMode="External"/><Relationship Id="rId10" Type="http://schemas.openxmlformats.org/officeDocument/2006/relationships/hyperlink" Target="https://carrent.com.co/alquiler-de-van-en-cali" TargetMode="External"/><Relationship Id="rId11" Type="http://schemas.openxmlformats.org/officeDocument/2006/relationships/hyperlink" Target="https://www.kayak.com.co/cars/Santiago-de-Cali,Colombia-c11092/2026-10-30/2026-11-02;map?fs=carcapacity=precise_7;carlocationid=~CLO&amp;ucs=9x1xcq&amp;sort=rank_a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840480" y="502920"/>
            <a:ext cx="4507992" cy="157276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lag_cartagena_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832" y="658368"/>
            <a:ext cx="1402080" cy="841248"/>
          </a:xfrm>
          <a:prstGeom prst="roundRect">
            <a:avLst>
              <a:gd name="adj" fmla="val 9000"/>
            </a:avLst>
          </a:prstGeom>
        </p:spPr>
      </p:pic>
      <p:sp>
        <p:nvSpPr>
          <p:cNvPr id="4" name="TextBox 3"/>
          <p:cNvSpPr txBox="1"/>
          <p:nvPr/>
        </p:nvSpPr>
        <p:spPr>
          <a:xfrm>
            <a:off x="5870448" y="82296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B5765C"/>
                </a:solidFill>
              </a:rPr>
              <a:t>→</a:t>
            </a:r>
          </a:p>
        </p:txBody>
      </p:sp>
      <p:pic>
        <p:nvPicPr>
          <p:cNvPr id="5" name="Picture 4" descr="flag_cali_rg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68" y="658368"/>
            <a:ext cx="1261872" cy="841248"/>
          </a:xfrm>
          <a:prstGeom prst="roundRect">
            <a:avLst>
              <a:gd name="adj" fmla="val 9000"/>
            </a:avLst>
          </a:prstGeom>
        </p:spPr>
      </p:pic>
      <p:sp>
        <p:nvSpPr>
          <p:cNvPr id="6" name="TextBox 5"/>
          <p:cNvSpPr txBox="1"/>
          <p:nvPr/>
        </p:nvSpPr>
        <p:spPr>
          <a:xfrm>
            <a:off x="3840480" y="1572768"/>
            <a:ext cx="450799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8A7A6E"/>
                </a:solidFill>
              </a:rPr>
              <a:t>de Cartagena a Cali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2697480"/>
            <a:ext cx="9811512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971800"/>
            <a:ext cx="9235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1">
                <a:solidFill>
                  <a:srgbClr val="8F5A44"/>
                </a:solidFill>
              </a:rPr>
              <a:t>Mini-Boom en Cali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069080"/>
            <a:ext cx="9235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8A7A6E"/>
                </a:solidFill>
              </a:rPr>
              <a:t>Dossier de logística · transporte y estadía para siete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41848" y="4617720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41848" y="4617720"/>
            <a:ext cx="914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463A32"/>
                </a:solidFill>
              </a:rPr>
              <a:t>v2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120640"/>
            <a:ext cx="9235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463A32"/>
                </a:solidFill>
              </a:rPr>
              <a:t>7 personas    ·    30 oct – 2 nov 2026 (viernes a lunes · 3 noches)</a:t>
            </a:r>
          </a:p>
          <a:p>
            <a:pPr algn="ctr"/>
            <a:r>
              <a:rPr sz="1200" b="0">
                <a:solidFill>
                  <a:srgbClr val="8A7A6E"/>
                </a:solidFill>
              </a:rPr>
              <a:t>Ida 30 oct: sale 6:00 pm de Cartagena, llega 8:00 pm · regreso en vuelo 9:00 pm del 2 nov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🧭   Punto de partida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874519"/>
            <a:ext cx="1005840" cy="100584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>
                <a:solidFill>
                  <a:srgbClr val="463A32"/>
                </a:solidFill>
              </a:rPr>
              <a:t>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48840" y="1828800"/>
            <a:ext cx="35661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A7A6E"/>
                </a:solidFill>
              </a:rPr>
              <a:t>El grupo</a:t>
            </a:r>
          </a:p>
          <a:p>
            <a:pPr algn="l"/>
            <a:r>
              <a:rPr sz="1900" b="1">
                <a:solidFill>
                  <a:srgbClr val="463A32"/>
                </a:solidFill>
              </a:rPr>
              <a:t>7 personas · 3 noches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371600"/>
            <a:ext cx="539496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11112" y="1874519"/>
            <a:ext cx="1005840" cy="100584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>
                <a:solidFill>
                  <a:srgbClr val="463A32"/>
                </a:solidFill>
              </a:rPr>
              <a:t>🗓️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45552" y="1828800"/>
            <a:ext cx="35661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A7A6E"/>
                </a:solidFill>
              </a:rPr>
              <a:t>Las fechas</a:t>
            </a:r>
          </a:p>
          <a:p>
            <a:pPr algn="l"/>
            <a:r>
              <a:rPr sz="1900" b="1">
                <a:solidFill>
                  <a:srgbClr val="463A32"/>
                </a:solidFill>
              </a:rPr>
              <a:t>30 oct – 2 nov · llega 8 pm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657600"/>
            <a:ext cx="539496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4160520"/>
            <a:ext cx="1005840" cy="100584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>
                <a:solidFill>
                  <a:srgbClr val="463A32"/>
                </a:solidFill>
              </a:rPr>
              <a:t>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4114800"/>
            <a:ext cx="35661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A7A6E"/>
                </a:solidFill>
              </a:rPr>
              <a:t>El presupuesto</a:t>
            </a:r>
          </a:p>
          <a:p>
            <a:pPr algn="l"/>
            <a:r>
              <a:rPr sz="1900" b="1">
                <a:solidFill>
                  <a:srgbClr val="463A32"/>
                </a:solidFill>
              </a:rPr>
              <a:t>$300–400k p/p · flex $480k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3657600"/>
            <a:ext cx="539496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11112" y="4160520"/>
            <a:ext cx="1005840" cy="100584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>
                <a:solidFill>
                  <a:srgbClr val="463A32"/>
                </a:solidFill>
              </a:rPr>
              <a:t>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5552" y="4114800"/>
            <a:ext cx="35661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A7A6E"/>
                </a:solidFill>
              </a:rPr>
              <a:t>La prioridad</a:t>
            </a:r>
          </a:p>
          <a:p>
            <a:pPr algn="l"/>
            <a:r>
              <a:rPr sz="1900" b="1">
                <a:solidFill>
                  <a:srgbClr val="463A32"/>
                </a:solidFill>
              </a:rPr>
              <a:t>Seguridad, siempre primero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🧪   Cómo se hizo esto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269748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17320" y="1828800"/>
            <a:ext cx="777240" cy="777240"/>
          </a:xfrm>
          <a:prstGeom prst="ellipse">
            <a:avLst/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23317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F5A44"/>
                </a:solidFill>
              </a:rPr>
              <a:t>La vara primero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463A32"/>
                </a:solidFill>
              </a:rPr>
              <a:t>Pesos de cada criterio (seguridad al frente) antes de ver un solo precio.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508760"/>
            <a:ext cx="269748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251960" y="1828800"/>
            <a:ext cx="777240" cy="777240"/>
          </a:xfrm>
          <a:prstGeom prst="ellipse">
            <a:avLst/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743200"/>
            <a:ext cx="23317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F5A44"/>
                </a:solidFill>
              </a:rPr>
              <a:t>Precios reales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463A32"/>
                </a:solidFill>
              </a:rPr>
              <a:t>Un robot recorrió Hostelworld con las fechas reales; el transporte, contra Kayak y locales.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508760"/>
            <a:ext cx="269748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86600" y="1828800"/>
            <a:ext cx="777240" cy="777240"/>
          </a:xfrm>
          <a:prstGeom prst="ellipse">
            <a:avLst/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743200"/>
            <a:ext cx="23317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F5A44"/>
                </a:solidFill>
              </a:rPr>
              <a:t>Puntaje propio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463A32"/>
                </a:solidFill>
              </a:rPr>
              <a:t>Nota de 1 a 5 por criterio × su peso, auditable; aparte del rating externo.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508760"/>
            <a:ext cx="269748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921240" y="1828800"/>
            <a:ext cx="777240" cy="777240"/>
          </a:xfrm>
          <a:prstGeom prst="ellipse">
            <a:avLst/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743200"/>
            <a:ext cx="23317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F5A44"/>
                </a:solidFill>
              </a:rPr>
              <a:t>Una sola fuente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463A32"/>
                </a:solidFill>
              </a:rPr>
              <a:t>Los mismos datos generan los 4 documentos: cambiar un número los actualiza todos.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🎯   Cómo se puntuó la estadía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63A32"/>
                </a:solidFill>
              </a:rPr>
              <a:t>La calificación de huéspedes (9.6, 9.8…) es externa. El puntaje 0–100 es propio: nota 1–5 por criterio × su peso.   Puntaje = suma de (peso × nota⁄5).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05740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2199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🔒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30%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228600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Seguridad del barrio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Por zona (San Antonio / Granada = 5)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3672" y="205740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6552" y="222199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✨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20%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6712" y="228600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Amenidades y comodidad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Aire +2, piscina +2, cocina +1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64424" y="205740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47304" y="222199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💰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20%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27464" y="228600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Precio por persona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Más barato = 5; lineal al más caro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02336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18795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📍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12%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25196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Cercanía a zona turística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Qué tan a pie de lo turístico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33672" y="402336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6552" y="418795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🅿️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10%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96712" y="425196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Parqueadero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Disponibilidad estimada (baja certeza)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64424" y="402336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7304" y="418795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🎉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425196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Ambiente social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Facilidad para conocer gente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🏨   Estadía — los finalistas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7589520" cy="4937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85800" y="1463040"/>
          <a:ext cx="722376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75320" y="1645920"/>
            <a:ext cx="3520440" cy="3291840"/>
          </a:xfrm>
          <a:prstGeom prst="roundRect">
            <a:avLst>
              <a:gd name="adj" fmla="val 12000"/>
            </a:avLst>
          </a:prstGeom>
          <a:solidFill>
            <a:srgbClr val="F0E0C6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920240"/>
            <a:ext cx="3017520" cy="2834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8F5A44"/>
                </a:solidFill>
              </a:rPr>
              <a:t>★ Viajero Hostel &amp; Salsa School</a:t>
            </a:r>
          </a:p>
          <a:p>
            <a:pPr algn="l"/>
            <a:r>
              <a:rPr sz="1500" b="0">
                <a:solidFill>
                  <a:srgbClr val="463A32"/>
                </a:solidFill>
              </a:rPr>
              <a:t>lidera con 77.6/100.</a:t>
            </a:r>
          </a:p>
          <a:p>
            <a:pPr algn="l"/>
            <a:r>
              <a:rPr sz="8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463A32"/>
                </a:solidFill>
              </a:rPr>
              <a:t>Puntaje propio (seguridad, amenidades, precio, cercanía, parqueo, social), no el rating externo.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🏨   Estadía — comparación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63A32"/>
                </a:solidFill>
              </a:rPr>
              <a:t>Ordenadas por nuestro puntaje. 'Por persona' = las 3 noches. Toca 'ver' para revisar cada una.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1127455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011680"/>
                <a:gridCol w="1280160"/>
                <a:gridCol w="1783080"/>
                <a:gridCol w="1810512"/>
                <a:gridCol w="822960"/>
              </a:tblGrid>
              <a:tr h="587828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Hostal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Zona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Puntaje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Precio/noche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Por persona (3n)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Ver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Viajero Hostel &amp; Salsa School ★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San Antonio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77.6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$84.094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$252.282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2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La Palmera Hostel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San Antonio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75.8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$50.000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$150.000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3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Oasis Cali Hostel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Granada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75.4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$150.000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4"/>
                        </a:rPr>
                        <a:t>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La Chanca Hostel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San Antonio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74.8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$29.950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$89.850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5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Hostal Patio del Río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Oeste (Cali)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72.8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$63.250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$189.750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6"/>
                        </a:rPr>
                        <a:t>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Casa/Apto entero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San Antonio (Oeste)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71.2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$300.000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7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🛏️   Airbnb (noroeste/oeste) — ranking por puntaje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7589520" cy="4937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85800" y="1463040"/>
          <a:ext cx="722376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75320" y="1645920"/>
            <a:ext cx="3520440" cy="3566160"/>
          </a:xfrm>
          <a:prstGeom prst="roundRect">
            <a:avLst>
              <a:gd name="adj" fmla="val 12000"/>
            </a:avLst>
          </a:prstGeom>
          <a:solidFill>
            <a:srgbClr val="F0E0C6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920240"/>
            <a:ext cx="30175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8F5A44"/>
                </a:solidFill>
              </a:rPr>
              <a:t>★ Apto La Flora (7 camas)</a:t>
            </a:r>
          </a:p>
          <a:p>
            <a:pPr algn="l"/>
            <a:r>
              <a:rPr sz="1400" b="0">
                <a:solidFill>
                  <a:srgbClr val="463A32"/>
                </a:solidFill>
              </a:rPr>
              <a:t>La mejor CON cama para los 7 (7 camas, 74.6/100).</a:t>
            </a:r>
          </a:p>
          <a:p>
            <a:pPr algn="l"/>
            <a:r>
              <a:rPr sz="8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463A32"/>
                </a:solidFill>
              </a:rPr>
              <a:t>A ~4.8 km. Con carro local ≈ $385.894 pp.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La #1 por puntaje es más barata/céntrica pero trae 4 camas. Confirmá disponibilidad 30→2.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🛏️   Airbnb (noroeste/oeste) — comparación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Alojamiento entero (ningún baño se comparte). «Dist.» = km a la zona de actividades (coordenadas). Aire «según anuncio» y disponibilidad del 30→2: confirmar.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11274551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737360"/>
                <a:gridCol w="1188720"/>
                <a:gridCol w="914400"/>
                <a:gridCol w="914400"/>
                <a:gridCol w="1856231"/>
                <a:gridCol w="731520"/>
              </a:tblGrid>
              <a:tr h="786384"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</a:rPr>
                        <a:t>Casa / apto entero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</a:rPr>
                        <a:t>Sector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</a:rPr>
                        <a:t>Dist. act.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</a:rPr>
                        <a:t>Puntaje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</a:rPr>
                        <a:t>Baños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</a:rPr>
                        <a:t>Por persona (3n)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FFFFFF"/>
                          </a:solidFill>
                        </a:rPr>
                        <a:t>Ver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Apto Granada/Chipichape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Noroeste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63A32"/>
                          </a:solidFill>
                        </a:rPr>
                        <a:t>~1.8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77.2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2,5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$129.771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2"/>
                        </a:rPr>
                        <a:t>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Apto La Flora (7 camas) ★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Norte (La Flora)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63A32"/>
                          </a:solidFill>
                        </a:rPr>
                        <a:t>~4.8 km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74.6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$185.894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3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Casa-museo S.Antonio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Oeste (San Antonio)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63A32"/>
                          </a:solidFill>
                        </a:rPr>
                        <a:t>~0.6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67.6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2,5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$184.885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4"/>
                        </a:rPr>
                        <a:t>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Torre Gardes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Noroeste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63A32"/>
                          </a:solidFill>
                        </a:rPr>
                        <a:t>~3.0 km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66.8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$285.714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5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🌙   La llegada es de noche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3566160" cy="3566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28800" y="1828800"/>
            <a:ext cx="914400" cy="91440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463A32"/>
                </a:solidFill>
              </a:rPr>
              <a:t>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8036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3 días limpios</a:t>
            </a:r>
          </a:p>
          <a:p>
            <a:pPr algn="ctr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ctr"/>
            <a:r>
              <a:rPr sz="1350" b="0">
                <a:solidFill>
                  <a:srgbClr val="463A32"/>
                </a:solidFill>
              </a:rPr>
              <a:t>Recoger esa noche y devolver ~7 pm del 2: por debajo de las 72 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33672" y="1508760"/>
            <a:ext cx="3566160" cy="3566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D9A75E"/>
            </a:solidFill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559552" y="1828800"/>
            <a:ext cx="914400" cy="91440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463A32"/>
                </a:solidFill>
              </a:rPr>
              <a:t>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7992" y="288036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Local = cuadra</a:t>
            </a:r>
          </a:p>
          <a:p>
            <a:pPr algn="ctr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ctr"/>
            <a:r>
              <a:rPr sz="1350" b="0">
                <a:solidFill>
                  <a:srgbClr val="463A32"/>
                </a:solidFill>
              </a:rPr>
              <a:t>Farallones / WayCarCali entregan el carro coordinando el vuelo de las 8 pm.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4424" y="1508760"/>
            <a:ext cx="3566160" cy="3566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290304" y="1828800"/>
            <a:ext cx="914400" cy="91440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463A32"/>
                </a:solidFill>
              </a:rPr>
              <a:t>⚠️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8744" y="288036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Mostrador = ojo</a:t>
            </a:r>
          </a:p>
          <a:p>
            <a:pPr algn="ctr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ctr"/>
            <a:r>
              <a:rPr sz="1350" b="0">
                <a:solidFill>
                  <a:srgbClr val="463A32"/>
                </a:solidFill>
              </a:rPr>
              <a:t>Alamo / Localiza: más baratos, pero cierran ~10 pm. Reservar fuera de horario (24 h).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0352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A7A6E"/>
                </a:solidFill>
              </a:rPr>
              <a:t>Red de seguridad: los taxis oficiales del aeropuerto operan 24/7 (distintivo amarillo, tarifados).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🚗   Cómo moverse — tres opciones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3566160" cy="4114800"/>
          </a:xfrm>
          <a:prstGeom prst="roundRect">
            <a:avLst>
              <a:gd name="adj" fmla="val 12000"/>
            </a:avLst>
          </a:prstGeom>
          <a:solidFill>
            <a:srgbClr val="F0E0C6"/>
          </a:solidFill>
          <a:ln w="25400">
            <a:solidFill>
              <a:srgbClr val="D9A75E"/>
            </a:solidFill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08760" y="132588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1325880"/>
            <a:ext cx="1554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463A32"/>
                </a:solidFill>
              </a:rPr>
              <a:t>★ Recomendado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Carro local (entrega)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D9A75E"/>
                </a:solidFill>
              </a:rPr>
              <a:t>$200.000</a:t>
            </a:r>
          </a:p>
          <a:p>
            <a:pPr algn="ctr"/>
            <a:r>
              <a:rPr sz="1300" b="0">
                <a:solidFill>
                  <a:srgbClr val="8A7A6E"/>
                </a:solidFill>
              </a:rPr>
              <a:t>por persona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6908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0">
                <a:solidFill>
                  <a:srgbClr val="463A32"/>
                </a:solidFill>
              </a:rPr>
              <a:t>Cuadra con la llegada de noche; libertad para salir de Cali.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3672" y="1554480"/>
            <a:ext cx="3566160" cy="4114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7992" y="192024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Mostrador (Kayak)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74320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D9A75E"/>
                </a:solidFill>
              </a:rPr>
              <a:t>$180.000</a:t>
            </a:r>
          </a:p>
          <a:p>
            <a:pPr algn="ctr"/>
            <a:r>
              <a:rPr sz="1300" b="0">
                <a:solidFill>
                  <a:srgbClr val="8A7A6E"/>
                </a:solidFill>
              </a:rPr>
              <a:t>por persona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406908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0">
                <a:solidFill>
                  <a:srgbClr val="463A32"/>
                </a:solidFill>
              </a:rPr>
              <a:t>Más barato, pero el mostrador cierra ~10 pm.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4424" y="1554480"/>
            <a:ext cx="3566160" cy="4114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4" y="192024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Sin carro propio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74320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D9A75E"/>
                </a:solidFill>
              </a:rPr>
              <a:t>$125.000</a:t>
            </a:r>
          </a:p>
          <a:p>
            <a:pPr algn="ctr"/>
            <a:r>
              <a:rPr sz="1300" b="0">
                <a:solidFill>
                  <a:srgbClr val="8A7A6E"/>
                </a:solidFill>
              </a:rPr>
              <a:t>por persona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406908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0">
                <a:solidFill>
                  <a:srgbClr val="463A32"/>
                </a:solidFill>
              </a:rPr>
              <a:t>Lo más barato: taxis + una van con conductor para el paseo.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🚙   Opciones de vehículo (7 puestos)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Lo que cambia según dónde se recoja: local (entrega, cuadra con la llegada) vs mostrador (más barato, horario rígido).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965960"/>
                <a:gridCol w="1828800"/>
                <a:gridCol w="1600200"/>
                <a:gridCol w="2834640"/>
                <a:gridCol w="731520"/>
              </a:tblGrid>
              <a:tr h="522514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Vehículo (7 puestos)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Agencia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Tarifa (3 días)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Por persona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¿Cuadra con la llegada?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Ver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Chevrolet Captiva Turbo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Farallones (local)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~$1.200.000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$171.429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Sí — oficina en el aeropuerto y domicilio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2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Toyota Fortuner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Farallones (local)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desde $1.140.000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$162.857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Sí — entrega coordinando el vuelo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3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Mitsubishi Montero Sport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Farallones (local)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desde $705.000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$100.714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Sí — entrega coordinando el vuelo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3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7 puestos (varios modelos)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WayCarCali (local)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desde $360.000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$51.429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Sí — domicilio gratis al aeropuerto (3+ días)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4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Nissan X-Trail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Kayak · EconomyBookings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$1.033.028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$147.575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Mostrador: cierra ~10 pm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5"/>
                        </a:rPr>
                        <a:t>ver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SUV mediano híbrido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Kayak · Alkilautos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$1.847.639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$263.948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Mostrador: cierra ~10 pm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5"/>
                        </a:rPr>
                        <a:t>ver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577840"/>
            <a:ext cx="11338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8F5A44"/>
                </a:solidFill>
              </a:rPr>
              <a:t>Todos los precios son por los 3 días, solo el alquiler (sin gasolina ni parqueo). Las tarifas locales 'desde' se calculan sobre la tarifa base/día × 3; en alquiler corto el total real suele ser mayor (la Captiva, confirmada, cuesta ~$1.200.000) — pidan el exacto por WhatsApp. Lo clave sigue siendo el horario: las locales entregan coordinando el vuelo; los mostradores cierran ~10 pm.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8F5A44"/>
                </a:solidFill>
              </a:rPr>
              <a:t>🏆  La recomendación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280160" y="1600200"/>
            <a:ext cx="9628632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D9A75E"/>
            </a:solidFill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54480" y="1828800"/>
            <a:ext cx="905256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463A32"/>
                </a:solidFill>
              </a:rPr>
              <a:t>Viajero Hostel &amp; Salsa School  +  carro local (entrega coordinada)</a:t>
            </a:r>
          </a:p>
          <a:p>
            <a:pPr algn="ctr"/>
            <a:r>
              <a:rPr sz="800" b="0">
                <a:solidFill>
                  <a:srgbClr val="463A32"/>
                </a:solidFill>
              </a:rPr>
              <a:t/>
            </a:r>
          </a:p>
          <a:p>
            <a:pPr algn="ctr"/>
            <a:r>
              <a:rPr sz="3000" b="1">
                <a:solidFill>
                  <a:srgbClr val="8F5A44"/>
                </a:solidFill>
              </a:rPr>
              <a:t>≈ $452.282 por persona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20624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4206240"/>
            <a:ext cx="29260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463A32"/>
                </a:solidFill>
              </a:rPr>
              <a:t>Mostrador (Kayak): $432.282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420624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4206240"/>
            <a:ext cx="29260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463A32"/>
                </a:solidFill>
              </a:rPr>
              <a:t>Sin carro propio: $377.282 (en meta)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20624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4206240"/>
            <a:ext cx="29260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463A32"/>
                </a:solidFill>
              </a:rPr>
              <a:t>En meta de estadía: Patio del Río $389.750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A7A6E"/>
                </a:solidFill>
              </a:rPr>
              <a:t>El hostal dice sí a todo (seguridad, piscina, aire, bar, rumba y salsa); el carro local da libertad sin pelear con el horario.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📋   Antes de reservar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44068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59" y="1801368"/>
            <a:ext cx="658368" cy="658368"/>
          </a:xfrm>
          <a:prstGeom prst="ellipse">
            <a:avLst/>
          </a:prstGeom>
          <a:solidFill>
            <a:srgbClr val="E6E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5B7D4F"/>
                </a:solidFill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581912"/>
            <a:ext cx="4114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Estadía: ¿precio por persona o por habitación? Y capacidad para 7 (camas ≥5).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44068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537959" y="1801368"/>
            <a:ext cx="658368" cy="658368"/>
          </a:xfrm>
          <a:prstGeom prst="ellipse">
            <a:avLst/>
          </a:prstGeom>
          <a:solidFill>
            <a:srgbClr val="E6E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5B7D4F"/>
                </a:solidFill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1581912"/>
            <a:ext cx="4114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Carro: cotizar por WhatsApp la entrega en el aeropuerto coordinando el vuelo de las 8 pm, y el total de 3 días.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17520"/>
            <a:ext cx="544068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59" y="3401568"/>
            <a:ext cx="658368" cy="658368"/>
          </a:xfrm>
          <a:prstGeom prst="ellipse">
            <a:avLst/>
          </a:prstGeom>
          <a:solidFill>
            <a:srgbClr val="E6E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5B7D4F"/>
                </a:solidFill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182112"/>
            <a:ext cx="4114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Si usan el mostrador (Kayak): reservar recogida fuera de horario (24 h) por si el vuelo se retrasa.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017520"/>
            <a:ext cx="544068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37959" y="3401568"/>
            <a:ext cx="658368" cy="658368"/>
          </a:xfrm>
          <a:prstGeom prst="ellipse">
            <a:avLst/>
          </a:prstGeom>
          <a:solidFill>
            <a:srgbClr val="E6E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5B7D4F"/>
                </a:solidFill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3182112"/>
            <a:ext cx="4114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Reservar pronto: cuatro semanas y fin de semana de Halloween.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754880"/>
            <a:ext cx="11064240" cy="1371600"/>
          </a:xfrm>
          <a:prstGeom prst="roundRect">
            <a:avLst>
              <a:gd name="adj" fmla="val 12000"/>
            </a:avLst>
          </a:prstGeom>
          <a:solidFill>
            <a:srgbClr val="F0E0C6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892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8F5A44"/>
                </a:solidFill>
              </a:rPr>
              <a:t>Estadía:  </a:t>
            </a:r>
            <a:r>
              <a:rPr sz="1200" u="sng">
                <a:solidFill>
                  <a:srgbClr val="8F5A44"/>
                </a:solidFill>
                <a:hlinkClick r:id="rId2"/>
              </a:rPr>
              <a:t>Viajero Hostel &amp; Salsa School   </a:t>
            </a:r>
            <a:r>
              <a:rPr sz="1200" u="sng">
                <a:solidFill>
                  <a:srgbClr val="8F5A44"/>
                </a:solidFill>
                <a:hlinkClick r:id="rId3"/>
              </a:rPr>
              <a:t>La Palmera Hostel   </a:t>
            </a:r>
            <a:r>
              <a:rPr sz="1200" u="sng">
                <a:solidFill>
                  <a:srgbClr val="8F5A44"/>
                </a:solidFill>
                <a:hlinkClick r:id="rId4"/>
              </a:rPr>
              <a:t>Oasis Cali Hostel   </a:t>
            </a:r>
            <a:r>
              <a:rPr sz="1200" u="sng">
                <a:solidFill>
                  <a:srgbClr val="8F5A44"/>
                </a:solidFill>
                <a:hlinkClick r:id="rId5"/>
              </a:rPr>
              <a:t>La Chanca Hostel   </a:t>
            </a:r>
            <a:r>
              <a:rPr sz="1200" u="sng">
                <a:solidFill>
                  <a:srgbClr val="8F5A44"/>
                </a:solidFill>
                <a:hlinkClick r:id="rId6"/>
              </a:rPr>
              <a:t>Hostal Patio del Río   </a:t>
            </a:r>
            <a:r>
              <a:rPr sz="1200" u="sng">
                <a:solidFill>
                  <a:srgbClr val="8F5A44"/>
                </a:solidFill>
                <a:hlinkClick r:id="rId7"/>
              </a:rPr>
              <a:t>Casa/Apto entero   </a:t>
            </a:r>
          </a:p>
          <a:p>
            <a:r>
              <a:rPr sz="1300" b="1">
                <a:solidFill>
                  <a:srgbClr val="8F5A44"/>
                </a:solidFill>
              </a:rPr>
              <a:t>Agencias:  </a:t>
            </a:r>
            <a:r>
              <a:rPr sz="1200" u="sng">
                <a:solidFill>
                  <a:srgbClr val="8F5A44"/>
                </a:solidFill>
                <a:hlinkClick r:id="rId8"/>
              </a:rPr>
              <a:t>Farallones   </a:t>
            </a:r>
            <a:r>
              <a:rPr sz="1200" u="sng">
                <a:solidFill>
                  <a:srgbClr val="8F5A44"/>
                </a:solidFill>
                <a:hlinkClick r:id="rId9"/>
              </a:rPr>
              <a:t>WayCarCali   </a:t>
            </a:r>
            <a:r>
              <a:rPr sz="1200" u="sng">
                <a:solidFill>
                  <a:srgbClr val="8F5A44"/>
                </a:solidFill>
                <a:hlinkClick r:id="rId10"/>
              </a:rPr>
              <a:t>Car Rent   </a:t>
            </a:r>
            <a:r>
              <a:rPr sz="1200" u="sng">
                <a:solidFill>
                  <a:srgbClr val="8F5A44"/>
                </a:solidFill>
                <a:hlinkClick r:id="rId11"/>
              </a:rPr>
              <a:t>Kayak (aeropuerto)  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A7A6E"/>
                </a:solidFill>
              </a:rPr>
              <a:t>Documentos hermanos: Mini-Boom-en-Cali_Informe-completo.md · Mini-Boom-en-Cali_Resumen-ejecutivo.pdf · Mini-Boom-en-Cali_Resultados.xlsx · Mini-Boom-en-Cali_Presentacion.pptx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