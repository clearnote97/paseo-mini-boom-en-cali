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D9A75E"/>
              </a:solidFill>
            </c:spPr>
          </c:dPt>
          <c:dPt>
            <c:idx val="1"/>
            <c:spPr>
              <a:solidFill>
                <a:srgbClr val="D8C4B2"/>
              </a:solidFill>
            </c:spPr>
          </c:dPt>
          <c:dPt>
            <c:idx val="2"/>
            <c:spPr>
              <a:solidFill>
                <a:srgbClr val="D8C4B2"/>
              </a:solidFill>
            </c:spPr>
          </c:dPt>
          <c:dPt>
            <c:idx val="3"/>
            <c:spPr>
              <a:solidFill>
                <a:srgbClr val="D8C4B2"/>
              </a:solidFill>
            </c:spPr>
          </c:dPt>
          <c:dPt>
            <c:idx val="4"/>
            <c:spPr>
              <a:solidFill>
                <a:srgbClr val="D8C4B2"/>
              </a:solidFill>
            </c:spPr>
          </c:dPt>
          <c:dPt>
            <c:idx val="5"/>
            <c:spPr>
              <a:solidFill>
                <a:srgbClr val="D8C4B2"/>
              </a:solidFill>
            </c:spPr>
          </c:dPt>
          <c:cat>
            <c:strRef>
              <c:f>Sheet1!$A$2:$A$7</c:f>
              <c:strCache>
                <c:ptCount val="6"/>
                <c:pt idx="0">
                  <c:v>Viajero</c:v>
                </c:pt>
                <c:pt idx="1">
                  <c:v>La Palmera</c:v>
                </c:pt>
                <c:pt idx="2">
                  <c:v>Oasis Cali</c:v>
                </c:pt>
                <c:pt idx="3">
                  <c:v>La Chanca</c:v>
                </c:pt>
                <c:pt idx="4">
                  <c:v>Hostal Patio del Río</c:v>
                </c:pt>
                <c:pt idx="5">
                  <c:v>Casa/Apto entero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77.6</c:v>
                </c:pt>
                <c:pt idx="1">
                  <c:v>75.8</c:v>
                </c:pt>
                <c:pt idx="2">
                  <c:v>75.4</c:v>
                </c:pt>
                <c:pt idx="3">
                  <c:v>74.8</c:v>
                </c:pt>
                <c:pt idx="4">
                  <c:v>72.8</c:v>
                </c:pt>
                <c:pt idx="5">
                  <c:v>71.2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D9A75E"/>
              </a:solidFill>
            </c:spPr>
          </c:dPt>
          <c:dPt>
            <c:idx val="1"/>
            <c:spPr>
              <a:solidFill>
                <a:srgbClr val="D8C4B2"/>
              </a:solidFill>
            </c:spPr>
          </c:dPt>
          <c:dPt>
            <c:idx val="2"/>
            <c:spPr>
              <a:solidFill>
                <a:srgbClr val="D8C4B2"/>
              </a:solidFill>
            </c:spPr>
          </c:dPt>
          <c:cat>
            <c:strRef>
              <c:f>Sheet1!$A$2:$A$4</c:f>
              <c:strCache>
                <c:ptCount val="3"/>
                <c:pt idx="0">
                  <c:v>La Flora (7 camas)</c:v>
                </c:pt>
                <c:pt idx="1">
                  <c:v>Casa-museo S.Antonio</c:v>
                </c:pt>
                <c:pt idx="2">
                  <c:v>Apto entero servicios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80.1</c:v>
                </c:pt>
                <c:pt idx="1">
                  <c:v>73.2</c:v>
                </c:pt>
                <c:pt idx="2">
                  <c:v>66.8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ostelworld.com/hostels/p/73676/viajero-cali-hostel-and-salsa-school/" TargetMode="External"/><Relationship Id="rId3" Type="http://schemas.openxmlformats.org/officeDocument/2006/relationships/hyperlink" Target="https://www.hostelworld.com/hostels/p/314482/la-palmera-hostel/" TargetMode="External"/><Relationship Id="rId4" Type="http://schemas.openxmlformats.org/officeDocument/2006/relationships/hyperlink" Target="https://www.hostelworld.com/hostels/p/284050/oasis-cali-hostel/" TargetMode="External"/><Relationship Id="rId5" Type="http://schemas.openxmlformats.org/officeDocument/2006/relationships/hyperlink" Target="https://www.hostelworld.com/hostels/p/329092/la-chanca-hostel/" TargetMode="External"/><Relationship Id="rId6" Type="http://schemas.openxmlformats.org/officeDocument/2006/relationships/hyperlink" Target="https://www.hostelworld.com/hostels/p/323610/hostal-patio-del-rio/" TargetMode="External"/><Relationship Id="rId7" Type="http://schemas.openxmlformats.org/officeDocument/2006/relationships/hyperlink" Target="https://www.airbnb.com/s/San-Antonio--Cali--Valle-del-Cauca/homes?checkin=2026-10-30&amp;checkout=2026-11-02&amp;adults=7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irbnb.com/rooms/1192253493415245874" TargetMode="External"/><Relationship Id="rId3" Type="http://schemas.openxmlformats.org/officeDocument/2006/relationships/hyperlink" Target="https://www.airbnb.com/rooms/1548961086363759352" TargetMode="External"/><Relationship Id="rId4" Type="http://schemas.openxmlformats.org/officeDocument/2006/relationships/hyperlink" Target="https://www.airbnb.com/rooms/49124373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rallonesrentacar.com/car-model/captiva-turbo-7-puestos/" TargetMode="External"/><Relationship Id="rId3" Type="http://schemas.openxmlformats.org/officeDocument/2006/relationships/hyperlink" Target="https://farallonesrentacar.com/listavehiculos/" TargetMode="External"/><Relationship Id="rId4" Type="http://schemas.openxmlformats.org/officeDocument/2006/relationships/hyperlink" Target="https://waycarcali.com/" TargetMode="External"/><Relationship Id="rId5" Type="http://schemas.openxmlformats.org/officeDocument/2006/relationships/hyperlink" Target="https://www.kayak.com.co/cars/Santiago-de-Cali,Colombia-c11092/2026-10-30/2026-11-02;map?fs=carcapacity=precise_7;carlocationid=~CLO&amp;ucs=9x1xcq&amp;sort=rank_a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ostelworld.com/hostels/p/73676/viajero-cali-hostel-and-salsa-school/" TargetMode="External"/><Relationship Id="rId3" Type="http://schemas.openxmlformats.org/officeDocument/2006/relationships/hyperlink" Target="https://www.hostelworld.com/hostels/p/314482/la-palmera-hostel/" TargetMode="External"/><Relationship Id="rId4" Type="http://schemas.openxmlformats.org/officeDocument/2006/relationships/hyperlink" Target="https://www.hostelworld.com/hostels/p/284050/oasis-cali-hostel/" TargetMode="External"/><Relationship Id="rId5" Type="http://schemas.openxmlformats.org/officeDocument/2006/relationships/hyperlink" Target="https://www.hostelworld.com/hostels/p/329092/la-chanca-hostel/" TargetMode="External"/><Relationship Id="rId6" Type="http://schemas.openxmlformats.org/officeDocument/2006/relationships/hyperlink" Target="https://www.hostelworld.com/hostels/p/323610/hostal-patio-del-rio/" TargetMode="External"/><Relationship Id="rId7" Type="http://schemas.openxmlformats.org/officeDocument/2006/relationships/hyperlink" Target="https://www.airbnb.com/s/San-Antonio--Cali--Valle-del-Cauca/homes?checkin=2026-10-30&amp;checkout=2026-11-02&amp;adults=7" TargetMode="External"/><Relationship Id="rId8" Type="http://schemas.openxmlformats.org/officeDocument/2006/relationships/hyperlink" Target="https://farallonesrentacar.com/listavehiculos/" TargetMode="External"/><Relationship Id="rId9" Type="http://schemas.openxmlformats.org/officeDocument/2006/relationships/hyperlink" Target="https://waycarcali.com/" TargetMode="External"/><Relationship Id="rId10" Type="http://schemas.openxmlformats.org/officeDocument/2006/relationships/hyperlink" Target="https://carrent.com.co/alquiler-de-van-en-cali" TargetMode="External"/><Relationship Id="rId11" Type="http://schemas.openxmlformats.org/officeDocument/2006/relationships/hyperlink" Target="https://www.kayak.com.co/cars/Santiago-de-Cali,Colombia-c11092/2026-10-30/2026-11-02;map?fs=carcapacity=precise_7;carlocationid=~CLO&amp;ucs=9x1xcq&amp;sort=rank_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0" y="502920"/>
            <a:ext cx="4507992" cy="15727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ag_cartagena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658368"/>
            <a:ext cx="1402080" cy="841248"/>
          </a:xfrm>
          <a:prstGeom prst="roundRect">
            <a:avLst>
              <a:gd name="adj" fmla="val 9000"/>
            </a:avLst>
          </a:prstGeom>
        </p:spPr>
      </p:pic>
      <p:sp>
        <p:nvSpPr>
          <p:cNvPr id="4" name="TextBox 3"/>
          <p:cNvSpPr txBox="1"/>
          <p:nvPr/>
        </p:nvSpPr>
        <p:spPr>
          <a:xfrm>
            <a:off x="5870448" y="82296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B5765C"/>
                </a:solidFill>
              </a:rPr>
              <a:t>→</a:t>
            </a:r>
          </a:p>
        </p:txBody>
      </p:sp>
      <p:pic>
        <p:nvPicPr>
          <p:cNvPr id="5" name="Picture 4" descr="flag_cali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658368"/>
            <a:ext cx="1261872" cy="841248"/>
          </a:xfrm>
          <a:prstGeom prst="roundRect">
            <a:avLst>
              <a:gd name="adj" fmla="val 9000"/>
            </a:avLst>
          </a:prstGeom>
        </p:spPr>
      </p:pic>
      <p:sp>
        <p:nvSpPr>
          <p:cNvPr id="6" name="TextBox 5"/>
          <p:cNvSpPr txBox="1"/>
          <p:nvPr/>
        </p:nvSpPr>
        <p:spPr>
          <a:xfrm>
            <a:off x="3840480" y="1572768"/>
            <a:ext cx="4507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8A7A6E"/>
                </a:solidFill>
              </a:rPr>
              <a:t>de Cartagena a Cali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697480"/>
            <a:ext cx="9811512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971800"/>
            <a:ext cx="9235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8F5A44"/>
                </a:solidFill>
              </a:rPr>
              <a:t>Mini-Boom en Cali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069080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8A7A6E"/>
                </a:solidFill>
              </a:rPr>
              <a:t>Dossier de logística · transporte y estadía para siete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41848" y="46177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D9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1848" y="4617720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63A32"/>
                </a:solidFill>
              </a:rPr>
              <a:t>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120640"/>
            <a:ext cx="9235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63A32"/>
                </a:solidFill>
              </a:rPr>
              <a:t>7 personas    ·    30 oct – 2 nov 2026 (viernes a lunes · 3 noches)</a:t>
            </a:r>
          </a:p>
          <a:p>
            <a:pPr algn="ctr"/>
            <a:r>
              <a:rPr sz="1200" b="0">
                <a:solidFill>
                  <a:srgbClr val="8A7A6E"/>
                </a:solidFill>
              </a:rPr>
              <a:t>Ida 30 oct: sale 6:00 pm de Cartagena, llega 8:00 pm · regreso en vuelo 9:00 pm del 2 nov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57432" cy="749808"/>
          </a:xfrm>
          <a:prstGeom prst="roundRect">
            <a:avLst>
              <a:gd name="adj" fmla="val 50000"/>
            </a:avLst>
          </a:prstGeom>
          <a:solidFill>
            <a:srgbClr val="B5765C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🧭   Punto de partida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74519"/>
            <a:ext cx="1005840" cy="1005840"/>
          </a:xfrm>
          <a:prstGeom prst="ellipse">
            <a:avLst/>
          </a:prstGeom>
          <a:solidFill>
            <a:srgbClr val="F0E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solidFill>
                  <a:srgbClr val="463A32"/>
                </a:solidFill>
              </a:rPr>
              <a:t>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828800"/>
            <a:ext cx="35661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A7A6E"/>
                </a:solidFill>
              </a:rPr>
              <a:t>El grupo</a:t>
            </a:r>
          </a:p>
          <a:p>
            <a:pPr algn="l"/>
            <a:r>
              <a:rPr sz="1900" b="1">
                <a:solidFill>
                  <a:srgbClr val="463A32"/>
                </a:solidFill>
              </a:rPr>
              <a:t>7 personas · 3 noches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37160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11112" y="1874519"/>
            <a:ext cx="1005840" cy="1005840"/>
          </a:xfrm>
          <a:prstGeom prst="ellipse">
            <a:avLst/>
          </a:prstGeom>
          <a:solidFill>
            <a:srgbClr val="F0E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solidFill>
                  <a:srgbClr val="463A32"/>
                </a:solidFill>
              </a:rPr>
              <a:t>🗓️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1828800"/>
            <a:ext cx="35661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A7A6E"/>
                </a:solidFill>
              </a:rPr>
              <a:t>Las fechas</a:t>
            </a:r>
          </a:p>
          <a:p>
            <a:pPr algn="l"/>
            <a:r>
              <a:rPr sz="1900" b="1">
                <a:solidFill>
                  <a:srgbClr val="463A32"/>
                </a:solidFill>
              </a:rPr>
              <a:t>30 oct – 2 nov · llega 8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4160520"/>
            <a:ext cx="1005840" cy="1005840"/>
          </a:xfrm>
          <a:prstGeom prst="ellipse">
            <a:avLst/>
          </a:prstGeom>
          <a:solidFill>
            <a:srgbClr val="F0E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solidFill>
                  <a:srgbClr val="463A32"/>
                </a:solidFill>
              </a:rP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114800"/>
            <a:ext cx="35661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A7A6E"/>
                </a:solidFill>
              </a:rPr>
              <a:t>El presupuesto</a:t>
            </a:r>
          </a:p>
          <a:p>
            <a:pPr algn="l"/>
            <a:r>
              <a:rPr sz="1900" b="1">
                <a:solidFill>
                  <a:srgbClr val="463A32"/>
                </a:solidFill>
              </a:rPr>
              <a:t>$300–400k p/p · flex $480k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365760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11112" y="4160520"/>
            <a:ext cx="1005840" cy="1005840"/>
          </a:xfrm>
          <a:prstGeom prst="ellipse">
            <a:avLst/>
          </a:prstGeom>
          <a:solidFill>
            <a:srgbClr val="F0E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solidFill>
                  <a:srgbClr val="463A32"/>
                </a:solidFill>
              </a:rP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4114800"/>
            <a:ext cx="35661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A7A6E"/>
                </a:solidFill>
              </a:rPr>
              <a:t>La prioridad</a:t>
            </a:r>
          </a:p>
          <a:p>
            <a:pPr algn="l"/>
            <a:r>
              <a:rPr sz="1900" b="1">
                <a:solidFill>
                  <a:srgbClr val="463A32"/>
                </a:solidFill>
              </a:rPr>
              <a:t>Seguridad, siempre primero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57432" cy="749808"/>
          </a:xfrm>
          <a:prstGeom prst="roundRect">
            <a:avLst>
              <a:gd name="adj" fmla="val 50000"/>
            </a:avLst>
          </a:prstGeom>
          <a:solidFill>
            <a:srgbClr val="B5765C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🧪   Cómo se hizo esto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26974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17320" y="1828800"/>
            <a:ext cx="777240" cy="777240"/>
          </a:xfrm>
          <a:prstGeom prst="ellipse">
            <a:avLst/>
          </a:prstGeom>
          <a:solidFill>
            <a:srgbClr val="D9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3317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F5A44"/>
                </a:solidFill>
              </a:rPr>
              <a:t>La vara primero</a:t>
            </a:r>
          </a:p>
          <a:p>
            <a:pPr algn="l"/>
            <a:r>
              <a:rPr sz="600" b="0">
                <a:solidFill>
                  <a:srgbClr val="463A32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463A32"/>
                </a:solidFill>
              </a:rPr>
              <a:t>Pesos de cada criterio (seguridad al frente) antes de ver un solo precio.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508760"/>
            <a:ext cx="26974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51960" y="1828800"/>
            <a:ext cx="777240" cy="777240"/>
          </a:xfrm>
          <a:prstGeom prst="ellipse">
            <a:avLst/>
          </a:prstGeom>
          <a:solidFill>
            <a:srgbClr val="D9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743200"/>
            <a:ext cx="23317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F5A44"/>
                </a:solidFill>
              </a:rPr>
              <a:t>Precios reales</a:t>
            </a:r>
          </a:p>
          <a:p>
            <a:pPr algn="l"/>
            <a:r>
              <a:rPr sz="600" b="0">
                <a:solidFill>
                  <a:srgbClr val="463A32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463A32"/>
                </a:solidFill>
              </a:rPr>
              <a:t>Un robot recorrió Hostelworld con las fechas reales; el transporte, contra Kayak y locales.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08760"/>
            <a:ext cx="26974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86600" y="1828800"/>
            <a:ext cx="777240" cy="777240"/>
          </a:xfrm>
          <a:prstGeom prst="ellipse">
            <a:avLst/>
          </a:prstGeom>
          <a:solidFill>
            <a:srgbClr val="D9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743200"/>
            <a:ext cx="23317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F5A44"/>
                </a:solidFill>
              </a:rPr>
              <a:t>Puntaje propio</a:t>
            </a:r>
          </a:p>
          <a:p>
            <a:pPr algn="l"/>
            <a:r>
              <a:rPr sz="600" b="0">
                <a:solidFill>
                  <a:srgbClr val="463A32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463A32"/>
                </a:solidFill>
              </a:rPr>
              <a:t>Nota de 1 a 5 por criterio × su peso, auditable; aparte del rating externo.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508760"/>
            <a:ext cx="26974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21240" y="1828800"/>
            <a:ext cx="777240" cy="777240"/>
          </a:xfrm>
          <a:prstGeom prst="ellipse">
            <a:avLst/>
          </a:prstGeom>
          <a:solidFill>
            <a:srgbClr val="D9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743200"/>
            <a:ext cx="23317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F5A44"/>
                </a:solidFill>
              </a:rPr>
              <a:t>Una sola fuente</a:t>
            </a:r>
          </a:p>
          <a:p>
            <a:pPr algn="l"/>
            <a:r>
              <a:rPr sz="600" b="0">
                <a:solidFill>
                  <a:srgbClr val="463A32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463A32"/>
                </a:solidFill>
              </a:rPr>
              <a:t>Los mismos datos generan los 4 documentos: cambiar un número los actualiza todos.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57432" cy="749808"/>
          </a:xfrm>
          <a:prstGeom prst="roundRect">
            <a:avLst>
              <a:gd name="adj" fmla="val 50000"/>
            </a:avLst>
          </a:prstGeom>
          <a:solidFill>
            <a:srgbClr val="B5765C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🎯   Cómo se puntuó la estadía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63A32"/>
                </a:solidFill>
              </a:rPr>
              <a:t>La calificación de huéspedes (9.6, 9.8…) es externa. El puntaje 0–100 es propio: nota 1–5 por criterio × su peso.   Puntaje = suma de (peso × nota⁄5).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35661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1234440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463A32"/>
                </a:solidFill>
              </a:rPr>
              <a:t>🔒</a:t>
            </a:r>
          </a:p>
          <a:p>
            <a:pPr algn="ctr"/>
            <a:r>
              <a:rPr sz="2700" b="1">
                <a:solidFill>
                  <a:srgbClr val="D9A75E"/>
                </a:solidFill>
              </a:rP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28600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F5A44"/>
                </a:solidFill>
              </a:rPr>
              <a:t>Seguridad del barrio</a:t>
            </a:r>
          </a:p>
          <a:p>
            <a:pPr algn="l"/>
            <a:r>
              <a:rPr sz="1150" b="0">
                <a:solidFill>
                  <a:srgbClr val="8A7A6E"/>
                </a:solidFill>
              </a:rPr>
              <a:t>Por zona (San Antonio / Granada = 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3672" y="2057400"/>
            <a:ext cx="35661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2221992"/>
            <a:ext cx="1234440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463A32"/>
                </a:solidFill>
              </a:rPr>
              <a:t>✨</a:t>
            </a:r>
          </a:p>
          <a:p>
            <a:pPr algn="ctr"/>
            <a:r>
              <a:rPr sz="2700" b="1">
                <a:solidFill>
                  <a:srgbClr val="D9A75E"/>
                </a:solidFill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6712" y="228600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F5A44"/>
                </a:solidFill>
              </a:rPr>
              <a:t>Amenidades y comodidad</a:t>
            </a:r>
          </a:p>
          <a:p>
            <a:pPr algn="l"/>
            <a:r>
              <a:rPr sz="1150" b="0">
                <a:solidFill>
                  <a:srgbClr val="8A7A6E"/>
                </a:solidFill>
              </a:rPr>
              <a:t>Aire +2, piscina +2, cocina +1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64424" y="2057400"/>
            <a:ext cx="35661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2221992"/>
            <a:ext cx="1234440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463A32"/>
                </a:solidFill>
              </a:rPr>
              <a:t>💰</a:t>
            </a:r>
          </a:p>
          <a:p>
            <a:pPr algn="ctr"/>
            <a:r>
              <a:rPr sz="2700" b="1">
                <a:solidFill>
                  <a:srgbClr val="D9A75E"/>
                </a:solidFill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7464" y="228600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F5A44"/>
                </a:solidFill>
              </a:rPr>
              <a:t>Precio por persona</a:t>
            </a:r>
          </a:p>
          <a:p>
            <a:pPr algn="l"/>
            <a:r>
              <a:rPr sz="1150" b="0">
                <a:solidFill>
                  <a:srgbClr val="8A7A6E"/>
                </a:solidFill>
              </a:rPr>
              <a:t>Más barato = 5; lineal al más caro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23360"/>
            <a:ext cx="35661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87952"/>
            <a:ext cx="1234440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463A32"/>
                </a:solidFill>
              </a:rPr>
              <a:t>📍</a:t>
            </a:r>
          </a:p>
          <a:p>
            <a:pPr algn="ctr"/>
            <a:r>
              <a:rPr sz="2700" b="1">
                <a:solidFill>
                  <a:srgbClr val="D9A75E"/>
                </a:solidFill>
              </a:rPr>
              <a:t>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25196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F5A44"/>
                </a:solidFill>
              </a:rPr>
              <a:t>Cercanía a zona turística</a:t>
            </a:r>
          </a:p>
          <a:p>
            <a:pPr algn="l"/>
            <a:r>
              <a:rPr sz="1150" b="0">
                <a:solidFill>
                  <a:srgbClr val="8A7A6E"/>
                </a:solidFill>
              </a:rPr>
              <a:t>Qué tan a pie de lo turístico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3672" y="4023360"/>
            <a:ext cx="35661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4187952"/>
            <a:ext cx="1234440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463A32"/>
                </a:solidFill>
              </a:rPr>
              <a:t>🅿️</a:t>
            </a:r>
          </a:p>
          <a:p>
            <a:pPr algn="ctr"/>
            <a:r>
              <a:rPr sz="2700" b="1">
                <a:solidFill>
                  <a:srgbClr val="D9A75E"/>
                </a:solidFill>
              </a:rP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6712" y="425196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F5A44"/>
                </a:solidFill>
              </a:rPr>
              <a:t>Parqueadero</a:t>
            </a:r>
          </a:p>
          <a:p>
            <a:pPr algn="l"/>
            <a:r>
              <a:rPr sz="1150" b="0">
                <a:solidFill>
                  <a:srgbClr val="8A7A6E"/>
                </a:solidFill>
              </a:rPr>
              <a:t>Disponibilidad estimada (baja certeza)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4424" y="4023360"/>
            <a:ext cx="35661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4187952"/>
            <a:ext cx="1234440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463A32"/>
                </a:solidFill>
              </a:rPr>
              <a:t>🎉</a:t>
            </a:r>
          </a:p>
          <a:p>
            <a:pPr algn="ctr"/>
            <a:r>
              <a:rPr sz="2700" b="1">
                <a:solidFill>
                  <a:srgbClr val="D9A75E"/>
                </a:solidFill>
              </a:rPr>
              <a:t>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4" y="425196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F5A44"/>
                </a:solidFill>
              </a:rPr>
              <a:t>Ambiente social</a:t>
            </a:r>
          </a:p>
          <a:p>
            <a:pPr algn="l"/>
            <a:r>
              <a:rPr sz="1150" b="0">
                <a:solidFill>
                  <a:srgbClr val="8A7A6E"/>
                </a:solidFill>
              </a:rPr>
              <a:t>Facilidad para conocer gente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57432" cy="749808"/>
          </a:xfrm>
          <a:prstGeom prst="roundRect">
            <a:avLst>
              <a:gd name="adj" fmla="val 50000"/>
            </a:avLst>
          </a:prstGeom>
          <a:solidFill>
            <a:srgbClr val="B5765C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🏨   Estadía — los finalistas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75895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463040"/>
          <a:ext cx="72237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75320" y="1645920"/>
            <a:ext cx="3520440" cy="3291840"/>
          </a:xfrm>
          <a:prstGeom prst="roundRect">
            <a:avLst>
              <a:gd name="adj" fmla="val 12000"/>
            </a:avLst>
          </a:prstGeom>
          <a:solidFill>
            <a:srgbClr val="F0E0C6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920240"/>
            <a:ext cx="301752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8F5A44"/>
                </a:solidFill>
              </a:rPr>
              <a:t>★ Viajero Hostel &amp; Salsa School</a:t>
            </a:r>
          </a:p>
          <a:p>
            <a:pPr algn="l"/>
            <a:r>
              <a:rPr sz="1500" b="0">
                <a:solidFill>
                  <a:srgbClr val="463A32"/>
                </a:solidFill>
              </a:rPr>
              <a:t>lidera con 77.6/100.</a:t>
            </a:r>
          </a:p>
          <a:p>
            <a:pPr algn="l"/>
            <a:r>
              <a:rPr sz="800" b="0">
                <a:solidFill>
                  <a:srgbClr val="463A32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463A32"/>
                </a:solidFill>
              </a:rPr>
              <a:t>Puntaje propio (seguridad, amenidades, precio, cercanía, parqueo, social), no el rating externo.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57432" cy="749808"/>
          </a:xfrm>
          <a:prstGeom prst="roundRect">
            <a:avLst>
              <a:gd name="adj" fmla="val 50000"/>
            </a:avLst>
          </a:prstGeom>
          <a:solidFill>
            <a:srgbClr val="B5765C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🏨   Estadía — comparación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63A32"/>
                </a:solidFill>
              </a:rPr>
              <a:t>Ordenadas por nuestro puntaje. 'Por persona' = las 3 noches. Toca 'ver' para revisar cada una.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011680"/>
                <a:gridCol w="1280160"/>
                <a:gridCol w="1783080"/>
                <a:gridCol w="1810512"/>
                <a:gridCol w="822960"/>
              </a:tblGrid>
              <a:tr h="58782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Hostal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Zona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Puntaje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Precio/noche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Por persona (3n)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Ver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3A32"/>
                          </a:solidFill>
                        </a:rPr>
                        <a:t>Viajero Hostel &amp; Salsa School ★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3A32"/>
                          </a:solidFill>
                        </a:rPr>
                        <a:t>San Antonio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77.6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$84.094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$252.282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u="sng">
                          <a:solidFill>
                            <a:srgbClr val="8F5A44"/>
                          </a:solidFill>
                          <a:hlinkClick r:id="rId2"/>
                        </a:rPr>
                        <a:t>ver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3A32"/>
                          </a:solidFill>
                        </a:rPr>
                        <a:t>La Palmera Hostel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3A32"/>
                          </a:solidFill>
                        </a:rPr>
                        <a:t>San Antonio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75.8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$50.000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$150.000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u="sng">
                          <a:solidFill>
                            <a:srgbClr val="8F5A44"/>
                          </a:solidFill>
                          <a:hlinkClick r:id="rId3"/>
                        </a:rPr>
                        <a:t>ver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3A32"/>
                          </a:solidFill>
                        </a:rPr>
                        <a:t>Oasis Cali Hostel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3A32"/>
                          </a:solidFill>
                        </a:rPr>
                        <a:t>Granada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75.4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$50.000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$150.000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u="sng">
                          <a:solidFill>
                            <a:srgbClr val="8F5A44"/>
                          </a:solidFill>
                          <a:hlinkClick r:id="rId4"/>
                        </a:rPr>
                        <a:t>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3A32"/>
                          </a:solidFill>
                        </a:rPr>
                        <a:t>La Chanca Hostel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3A32"/>
                          </a:solidFill>
                        </a:rPr>
                        <a:t>San Antonio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74.8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$29.950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$89.850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u="sng">
                          <a:solidFill>
                            <a:srgbClr val="8F5A44"/>
                          </a:solidFill>
                          <a:hlinkClick r:id="rId5"/>
                        </a:rPr>
                        <a:t>ver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3A32"/>
                          </a:solidFill>
                        </a:rPr>
                        <a:t>Hostal Patio del Río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3A32"/>
                          </a:solidFill>
                        </a:rPr>
                        <a:t>Oeste (Cali)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72.8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$63.250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$189.750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u="sng">
                          <a:solidFill>
                            <a:srgbClr val="8F5A44"/>
                          </a:solidFill>
                          <a:hlinkClick r:id="rId6"/>
                        </a:rPr>
                        <a:t>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3A32"/>
                          </a:solidFill>
                        </a:rPr>
                        <a:t>Casa/Apto entero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3A32"/>
                          </a:solidFill>
                        </a:rPr>
                        <a:t>San Antonio (Oeste)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71.2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63A32"/>
                          </a:solidFill>
                        </a:rPr>
                        <a:t>$300.000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u="sng">
                          <a:solidFill>
                            <a:srgbClr val="8F5A44"/>
                          </a:solidFill>
                          <a:hlinkClick r:id="rId7"/>
                        </a:rPr>
                        <a:t>ver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57432" cy="749808"/>
          </a:xfrm>
          <a:prstGeom prst="roundRect">
            <a:avLst>
              <a:gd name="adj" fmla="val 50000"/>
            </a:avLst>
          </a:prstGeom>
          <a:solidFill>
            <a:srgbClr val="B5765C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🛏️   Airbnb (noroeste/oeste) — ranking por puntaje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758952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463040"/>
          <a:ext cx="72237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75320" y="1645920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F0E0C6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920240"/>
            <a:ext cx="30175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8F5A44"/>
                </a:solidFill>
              </a:rPr>
              <a:t>★ La Flora (7 camas)</a:t>
            </a:r>
          </a:p>
          <a:p>
            <a:pPr algn="l"/>
            <a:r>
              <a:rPr sz="1400" b="0">
                <a:solidFill>
                  <a:srgbClr val="463A32"/>
                </a:solidFill>
              </a:rPr>
              <a:t>La mejor CON cama para los 7 (7 camas, 80.1/100).</a:t>
            </a:r>
          </a:p>
          <a:p>
            <a:pPr algn="l"/>
            <a:r>
              <a:rPr sz="800" b="0">
                <a:solidFill>
                  <a:srgbClr val="463A32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463A32"/>
                </a:solidFill>
              </a:rPr>
              <a:t>Total $1.301.262 ($185.894 pp). Con carro local ≈ $385.894 pp.</a:t>
            </a:r>
          </a:p>
          <a:p>
            <a:pPr algn="l"/>
            <a:r>
              <a:rPr sz="600" b="0">
                <a:solidFill>
                  <a:srgbClr val="463A32"/>
                </a:solidFill>
              </a:rPr>
              <a:t/>
            </a:r>
          </a:p>
          <a:p>
            <a:pPr algn="l"/>
            <a:r>
              <a:rPr sz="1150" b="0">
                <a:solidFill>
                  <a:srgbClr val="8A7A6E"/>
                </a:solidFill>
              </a:rPr>
              <a:t>Disponibilidad 30→2 verificada en el calendario. A ~4.8 km.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57432" cy="749808"/>
          </a:xfrm>
          <a:prstGeom prst="roundRect">
            <a:avLst>
              <a:gd name="adj" fmla="val 50000"/>
            </a:avLst>
          </a:prstGeom>
          <a:solidFill>
            <a:srgbClr val="B5765C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🛏️   Airbnb (noroeste/oeste) — comparación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63A32"/>
                </a:solidFill>
              </a:rPr>
              <a:t>Solo alojamientos enteros (ningún baño se comparte). «Dist.» = km a la zona de actividades. Rango 30→2 verificado en el calendario. Aire: confirmar.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554480"/>
                <a:gridCol w="914400"/>
                <a:gridCol w="914400"/>
                <a:gridCol w="822960"/>
                <a:gridCol w="1783080"/>
                <a:gridCol w="1508760"/>
                <a:gridCol w="731520"/>
              </a:tblGrid>
              <a:tr h="8229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Casa / apto entero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Sector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Dist.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Puntaje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Baños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Total (3n)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Por persona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Ver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63A32"/>
                          </a:solidFill>
                        </a:rPr>
                        <a:t>La Flora (7 camas) ★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63A32"/>
                          </a:solidFill>
                        </a:rPr>
                        <a:t>Norte (La Flora)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63A32"/>
                          </a:solidFill>
                        </a:rPr>
                        <a:t>~4.8 km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63A32"/>
                          </a:solidFill>
                        </a:rPr>
                        <a:t>80.1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63A3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63A32"/>
                          </a:solidFill>
                        </a:rPr>
                        <a:t>$1.301.262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63A32"/>
                          </a:solidFill>
                        </a:rPr>
                        <a:t>$185.894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u="sng">
                          <a:solidFill>
                            <a:srgbClr val="8F5A44"/>
                          </a:solidFill>
                          <a:hlinkClick r:id="rId2"/>
                        </a:rPr>
                        <a:t>ver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63A32"/>
                          </a:solidFill>
                        </a:rPr>
                        <a:t>Casa-museo S.Antonio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63A32"/>
                          </a:solidFill>
                        </a:rPr>
                        <a:t>Oeste (San Antonio)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63A32"/>
                          </a:solidFill>
                        </a:rPr>
                        <a:t>~0.6 km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63A32"/>
                          </a:solidFill>
                        </a:rPr>
                        <a:t>73.2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63A32"/>
                          </a:solidFill>
                        </a:rPr>
                        <a:t>2,5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63A32"/>
                          </a:solidFill>
                        </a:rPr>
                        <a:t>$1.294.200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63A32"/>
                          </a:solidFill>
                        </a:rPr>
                        <a:t>$184.885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u="sng">
                          <a:solidFill>
                            <a:srgbClr val="8F5A44"/>
                          </a:solidFill>
                          <a:hlinkClick r:id="rId3"/>
                        </a:rPr>
                        <a:t>ver</a:t>
                      </a:r>
                    </a:p>
                  </a:txBody>
                  <a:tcPr>
                    <a:solidFill>
                      <a:srgbClr val="F4E8D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63A32"/>
                          </a:solidFill>
                        </a:rPr>
                        <a:t>Apto entero servicios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63A32"/>
                          </a:solidFill>
                        </a:rPr>
                        <a:t>Oeste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63A32"/>
                          </a:solidFill>
                        </a:rPr>
                        <a:t>~3.6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63A32"/>
                          </a:solidFill>
                        </a:rPr>
                        <a:t>66.8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63A3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63A32"/>
                          </a:solidFill>
                        </a:rPr>
                        <a:t>$1.723.404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63A32"/>
                          </a:solidFill>
                        </a:rPr>
                        <a:t>$246.200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u="sng">
                          <a:solidFill>
                            <a:srgbClr val="8F5A44"/>
                          </a:solidFill>
                          <a:hlinkClick r:id="rId4"/>
                        </a:rPr>
                        <a:t>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57432" cy="749808"/>
          </a:xfrm>
          <a:prstGeom prst="roundRect">
            <a:avLst>
              <a:gd name="adj" fmla="val 50000"/>
            </a:avLst>
          </a:prstGeom>
          <a:solidFill>
            <a:srgbClr val="B5765C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🌙   La llegada es de noche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356616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828800"/>
            <a:ext cx="914400" cy="914400"/>
          </a:xfrm>
          <a:prstGeom prst="ellipse">
            <a:avLst/>
          </a:prstGeom>
          <a:solidFill>
            <a:srgbClr val="F0E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463A32"/>
                </a:solidFill>
              </a:rPr>
              <a:t>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F5A44"/>
                </a:solidFill>
              </a:rPr>
              <a:t>3 días limpios</a:t>
            </a:r>
          </a:p>
          <a:p>
            <a:pPr algn="ctr"/>
            <a:r>
              <a:rPr sz="600" b="0">
                <a:solidFill>
                  <a:srgbClr val="463A32"/>
                </a:solidFill>
              </a:rPr>
              <a:t/>
            </a:r>
          </a:p>
          <a:p>
            <a:pPr algn="ctr"/>
            <a:r>
              <a:rPr sz="1350" b="0">
                <a:solidFill>
                  <a:srgbClr val="463A32"/>
                </a:solidFill>
              </a:rPr>
              <a:t>Recoger esa noche y devolver ~7 pm del 2: por debajo de las 72 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33672" y="1508760"/>
            <a:ext cx="356616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A75E"/>
            </a:solidFill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59552" y="1828800"/>
            <a:ext cx="914400" cy="914400"/>
          </a:xfrm>
          <a:prstGeom prst="ellipse">
            <a:avLst/>
          </a:prstGeom>
          <a:solidFill>
            <a:srgbClr val="F0E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463A32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88036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F5A44"/>
                </a:solidFill>
              </a:rPr>
              <a:t>Local = cuadra</a:t>
            </a:r>
          </a:p>
          <a:p>
            <a:pPr algn="ctr"/>
            <a:r>
              <a:rPr sz="600" b="0">
                <a:solidFill>
                  <a:srgbClr val="463A32"/>
                </a:solidFill>
              </a:rPr>
              <a:t/>
            </a:r>
          </a:p>
          <a:p>
            <a:pPr algn="ctr"/>
            <a:r>
              <a:rPr sz="1350" b="0">
                <a:solidFill>
                  <a:srgbClr val="463A32"/>
                </a:solidFill>
              </a:rPr>
              <a:t>Farallones / WayCarCali entregan el carro coordinando el vuelo de las 8 pm.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4424" y="1508760"/>
            <a:ext cx="356616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90304" y="1828800"/>
            <a:ext cx="914400" cy="914400"/>
          </a:xfrm>
          <a:prstGeom prst="ellipse">
            <a:avLst/>
          </a:prstGeom>
          <a:solidFill>
            <a:srgbClr val="F0E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463A32"/>
                </a:solidFill>
              </a:rP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4" y="288036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F5A44"/>
                </a:solidFill>
              </a:rPr>
              <a:t>Mostrador = ojo</a:t>
            </a:r>
          </a:p>
          <a:p>
            <a:pPr algn="ctr"/>
            <a:r>
              <a:rPr sz="600" b="0">
                <a:solidFill>
                  <a:srgbClr val="463A32"/>
                </a:solidFill>
              </a:rPr>
              <a:t/>
            </a:r>
          </a:p>
          <a:p>
            <a:pPr algn="ctr"/>
            <a:r>
              <a:rPr sz="1350" b="0">
                <a:solidFill>
                  <a:srgbClr val="463A32"/>
                </a:solidFill>
              </a:rPr>
              <a:t>Alamo / Localiza: más baratos, pero cierran ~10 pm. Reservar fuera de horario (24 h).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A7A6E"/>
                </a:solidFill>
              </a:rPr>
              <a:t>Red de seguridad: los taxis oficiales del aeropuerto operan 24/7 (distintivo amarillo, tarifados).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57432" cy="749808"/>
          </a:xfrm>
          <a:prstGeom prst="roundRect">
            <a:avLst>
              <a:gd name="adj" fmla="val 50000"/>
            </a:avLst>
          </a:prstGeom>
          <a:solidFill>
            <a:srgbClr val="B5765C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🚗   Cómo moverse — tres opciones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3566160" cy="4114800"/>
          </a:xfrm>
          <a:prstGeom prst="roundRect">
            <a:avLst>
              <a:gd name="adj" fmla="val 12000"/>
            </a:avLst>
          </a:prstGeom>
          <a:solidFill>
            <a:srgbClr val="F0E0C6"/>
          </a:solidFill>
          <a:ln w="25400">
            <a:solidFill>
              <a:srgbClr val="D9A75E"/>
            </a:solidFill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08760" y="13258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9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32588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63A32"/>
                </a:solidFill>
              </a:rPr>
              <a:t>★ Recomendado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F5A44"/>
                </a:solidFill>
              </a:rPr>
              <a:t>Carro local (entrega)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D9A75E"/>
                </a:solidFill>
              </a:rPr>
              <a:t>$200.000</a:t>
            </a:r>
          </a:p>
          <a:p>
            <a:pPr algn="ctr"/>
            <a:r>
              <a:rPr sz="1300" b="0">
                <a:solidFill>
                  <a:srgbClr val="8A7A6E"/>
                </a:solidFill>
              </a:rPr>
              <a:t>por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463A32"/>
                </a:solidFill>
              </a:rPr>
              <a:t>Cuadra con la llegada de noche; libertad para salir de Cali.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554480"/>
            <a:ext cx="35661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9202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F5A44"/>
                </a:solidFill>
              </a:rPr>
              <a:t>Mostrador (Kayak)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74320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D9A75E"/>
                </a:solidFill>
              </a:rPr>
              <a:t>$180.000</a:t>
            </a:r>
          </a:p>
          <a:p>
            <a:pPr algn="ctr"/>
            <a:r>
              <a:rPr sz="1300" b="0">
                <a:solidFill>
                  <a:srgbClr val="8A7A6E"/>
                </a:solidFill>
              </a:rPr>
              <a:t>por persona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406908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463A32"/>
                </a:solidFill>
              </a:rPr>
              <a:t>Más barato, pero el mostrador cierra ~10 pm.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4424" y="1554480"/>
            <a:ext cx="35661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9202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F5A44"/>
                </a:solidFill>
              </a:rPr>
              <a:t>Sin carro propio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74320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D9A75E"/>
                </a:solidFill>
              </a:rPr>
              <a:t>$125.000</a:t>
            </a:r>
          </a:p>
          <a:p>
            <a:pPr algn="ctr"/>
            <a:r>
              <a:rPr sz="1300" b="0">
                <a:solidFill>
                  <a:srgbClr val="8A7A6E"/>
                </a:solidFill>
              </a:rPr>
              <a:t>por persona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406908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463A32"/>
                </a:solidFill>
              </a:rPr>
              <a:t>Lo más barato: taxis + una van con conductor para el paseo.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57432" cy="749808"/>
          </a:xfrm>
          <a:prstGeom prst="roundRect">
            <a:avLst>
              <a:gd name="adj" fmla="val 50000"/>
            </a:avLst>
          </a:prstGeom>
          <a:solidFill>
            <a:srgbClr val="B5765C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🚙   Opciones de vehículo (7 puestos)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63A32"/>
                </a:solidFill>
              </a:rPr>
              <a:t>Lo que cambia según dónde se recoja: local (entrega, cuadra con la llegada) vs mostrador (más barato, horario rígido).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9164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965960"/>
                <a:gridCol w="1828800"/>
                <a:gridCol w="1600200"/>
                <a:gridCol w="2834640"/>
                <a:gridCol w="731520"/>
              </a:tblGrid>
              <a:tr h="522514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Vehículo (7 puestos)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Agencia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Tarifa (3 días)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Por persona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¿Cuadra con la llegada?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Ver</a:t>
                      </a:r>
                    </a:p>
                  </a:txBody>
                  <a:tcPr>
                    <a:solidFill>
                      <a:srgbClr val="B5765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Chevrolet Captiva Turbo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Farallones (local)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~$1.200.000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63A32"/>
                          </a:solidFill>
                        </a:rPr>
                        <a:t>$171.429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Sí — oficina en el aeropuerto y domicilio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u="sng">
                          <a:solidFill>
                            <a:srgbClr val="8F5A44"/>
                          </a:solidFill>
                          <a:hlinkClick r:id="rId2"/>
                        </a:rPr>
                        <a:t>ver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Toyota Fortuner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Farallones (local)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desde $1.140.000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63A32"/>
                          </a:solidFill>
                        </a:rPr>
                        <a:t>$162.857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Sí — entrega coordinando el vuelo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u="sng">
                          <a:solidFill>
                            <a:srgbClr val="8F5A44"/>
                          </a:solidFill>
                          <a:hlinkClick r:id="rId3"/>
                        </a:rPr>
                        <a:t>ver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Mitsubishi Montero Sport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Farallones (local)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desde $705.000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63A32"/>
                          </a:solidFill>
                        </a:rPr>
                        <a:t>$100.714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Sí — entrega coordinando el vuelo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u="sng">
                          <a:solidFill>
                            <a:srgbClr val="8F5A44"/>
                          </a:solidFill>
                          <a:hlinkClick r:id="rId3"/>
                        </a:rPr>
                        <a:t>ver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7 puestos (varios modelos)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WayCarCali (local)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desde $360.000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63A32"/>
                          </a:solidFill>
                        </a:rPr>
                        <a:t>$51.429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Sí — domicilio gratis al aeropuerto (3+ días)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u="sng">
                          <a:solidFill>
                            <a:srgbClr val="8F5A44"/>
                          </a:solidFill>
                          <a:hlinkClick r:id="rId4"/>
                        </a:rPr>
                        <a:t>ver</a:t>
                      </a:r>
                    </a:p>
                  </a:txBody>
                  <a:tcPr>
                    <a:solidFill>
                      <a:srgbClr val="F0E0C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Nissan X-Trail</a:t>
                      </a:r>
                    </a:p>
                  </a:txBody>
                  <a:tcPr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Kayak · EconomyBookings</a:t>
                      </a:r>
                    </a:p>
                  </a:txBody>
                  <a:tcPr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$1.033.028</a:t>
                      </a:r>
                    </a:p>
                  </a:txBody>
                  <a:tcPr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63A32"/>
                          </a:solidFill>
                        </a:rPr>
                        <a:t>$147.575</a:t>
                      </a:r>
                    </a:p>
                  </a:txBody>
                  <a:tcPr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Mostrador: cierra ~10 pm</a:t>
                      </a:r>
                    </a:p>
                  </a:txBody>
                  <a:tcPr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u="sng">
                          <a:solidFill>
                            <a:srgbClr val="8F5A44"/>
                          </a:solidFill>
                          <a:hlinkClick r:id="rId5"/>
                        </a:rPr>
                        <a:t>ver</a:t>
                      </a:r>
                    </a:p>
                  </a:txBody>
                  <a:tcPr>
                    <a:solidFill>
                      <a:srgbClr val="EFE6D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SUV mediano híbrido</a:t>
                      </a:r>
                    </a:p>
                  </a:txBody>
                  <a:tcPr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Kayak · Alkilautos</a:t>
                      </a:r>
                    </a:p>
                  </a:txBody>
                  <a:tcPr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$1.847.639</a:t>
                      </a:r>
                    </a:p>
                  </a:txBody>
                  <a:tcPr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63A32"/>
                          </a:solidFill>
                        </a:rPr>
                        <a:t>$263.948</a:t>
                      </a:r>
                    </a:p>
                  </a:txBody>
                  <a:tcPr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63A32"/>
                          </a:solidFill>
                        </a:rPr>
                        <a:t>Mostrador: cierra ~10 pm</a:t>
                      </a:r>
                    </a:p>
                  </a:txBody>
                  <a:tcPr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u="sng">
                          <a:solidFill>
                            <a:srgbClr val="8F5A44"/>
                          </a:solidFill>
                          <a:hlinkClick r:id="rId5"/>
                        </a:rPr>
                        <a:t>ver</a:t>
                      </a:r>
                    </a:p>
                  </a:txBody>
                  <a:tcPr>
                    <a:solidFill>
                      <a:srgbClr val="EFE6D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338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8F5A44"/>
                </a:solidFill>
              </a:rPr>
              <a:t>Todos los precios son por los 3 días, solo el alquiler (sin gasolina ni parqueo). Las tarifas locales 'desde' se calculan sobre la tarifa base/día × 3; en alquiler corto el total real suele ser mayor (la Captiva, confirmada, cuesta ~$1.200.000) — pidan el exacto por WhatsApp. Lo clave sigue siendo el horario: las locales entregan coordinando el vuelo; los mostradores cierran ~10 pm.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8F5A44"/>
                </a:solidFill>
              </a:rPr>
              <a:t>🏆  La recomendación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1600200"/>
            <a:ext cx="9628632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D9A75E"/>
            </a:solidFill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828800"/>
            <a:ext cx="90525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463A32"/>
                </a:solidFill>
              </a:rPr>
              <a:t>Viajero Hostel &amp; Salsa School  +  carro local (entrega coordinada)</a:t>
            </a:r>
          </a:p>
          <a:p>
            <a:pPr algn="ctr"/>
            <a:r>
              <a:rPr sz="800" b="0">
                <a:solidFill>
                  <a:srgbClr val="463A32"/>
                </a:solidFill>
              </a:rPr>
              <a:t/>
            </a:r>
          </a:p>
          <a:p>
            <a:pPr algn="ctr"/>
            <a:r>
              <a:rPr sz="3000" b="1">
                <a:solidFill>
                  <a:srgbClr val="8F5A44"/>
                </a:solidFill>
              </a:rPr>
              <a:t>≈ $452.282 por persona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062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206240"/>
            <a:ext cx="2926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63A32"/>
                </a:solidFill>
              </a:rPr>
              <a:t>Mostrador (Kayak): $432.282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2062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4206240"/>
            <a:ext cx="2926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63A32"/>
                </a:solidFill>
              </a:rPr>
              <a:t>Sin carro propio: $377.282 (en meta)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2062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4206240"/>
            <a:ext cx="2926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63A32"/>
                </a:solidFill>
              </a:rPr>
              <a:t>En meta de estadía: Patio del Río $389.750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A7A6E"/>
                </a:solidFill>
              </a:rPr>
              <a:t>El hostal dice sí a todo (seguridad, piscina, aire, bar, rumba y salsa); el carro local da libertad sin pelear con el horario.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57432" cy="749808"/>
          </a:xfrm>
          <a:prstGeom prst="roundRect">
            <a:avLst>
              <a:gd name="adj" fmla="val 50000"/>
            </a:avLst>
          </a:prstGeom>
          <a:solidFill>
            <a:srgbClr val="B5765C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📋   Antes de reservar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801368"/>
            <a:ext cx="658368" cy="658368"/>
          </a:xfrm>
          <a:prstGeom prst="ellipse">
            <a:avLst/>
          </a:prstGeom>
          <a:solidFill>
            <a:srgbClr val="E6E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5B7D4F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581912"/>
            <a:ext cx="4114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63A32"/>
                </a:solidFill>
              </a:rPr>
              <a:t>Estadía: ¿precio por persona o por habitación? Y capacidad para 7 (camas ≥5).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37959" y="1801368"/>
            <a:ext cx="658368" cy="658368"/>
          </a:xfrm>
          <a:prstGeom prst="ellipse">
            <a:avLst/>
          </a:prstGeom>
          <a:solidFill>
            <a:srgbClr val="E6E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5B7D4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581912"/>
            <a:ext cx="4114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63A32"/>
                </a:solidFill>
              </a:rPr>
              <a:t>Carro: cotizar por WhatsApp la entrega en el aeropuerto coordinando el vuelo de las 8 pm, y el total de 3 días.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59" y="3401568"/>
            <a:ext cx="658368" cy="658368"/>
          </a:xfrm>
          <a:prstGeom prst="ellipse">
            <a:avLst/>
          </a:prstGeom>
          <a:solidFill>
            <a:srgbClr val="E6E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5B7D4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182112"/>
            <a:ext cx="4114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63A32"/>
                </a:solidFill>
              </a:rPr>
              <a:t>Si usan el mostrador (Kayak): reservar recogida fuera de horario (24 h) por si el vuelo se retrasa.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01752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59" y="3401568"/>
            <a:ext cx="658368" cy="658368"/>
          </a:xfrm>
          <a:prstGeom prst="ellipse">
            <a:avLst/>
          </a:prstGeom>
          <a:solidFill>
            <a:srgbClr val="E6E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5B7D4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182112"/>
            <a:ext cx="4114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63A32"/>
                </a:solidFill>
              </a:rPr>
              <a:t>Reservar pronto: cuatro semanas y fin de semana de Halloween.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12000"/>
            </a:avLst>
          </a:prstGeom>
          <a:solidFill>
            <a:srgbClr val="F0E0C6"/>
          </a:solidFill>
          <a:ln>
            <a:noFill/>
          </a:ln>
          <a:effectLst>
            <a:outerShdw blurRad="95000" dist="40000" dir="5400000" rotWithShape="0">
              <a:srgbClr val="6E5B4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5A44"/>
                </a:solidFill>
              </a:rPr>
              <a:t>Estadía:  </a:t>
            </a:r>
            <a:r>
              <a:rPr sz="1200" u="sng">
                <a:solidFill>
                  <a:srgbClr val="8F5A44"/>
                </a:solidFill>
                <a:hlinkClick r:id="rId2"/>
              </a:rPr>
              <a:t>Viajero Hostel &amp; Salsa School   </a:t>
            </a:r>
            <a:r>
              <a:rPr sz="1200" u="sng">
                <a:solidFill>
                  <a:srgbClr val="8F5A44"/>
                </a:solidFill>
                <a:hlinkClick r:id="rId3"/>
              </a:rPr>
              <a:t>La Palmera Hostel   </a:t>
            </a:r>
            <a:r>
              <a:rPr sz="1200" u="sng">
                <a:solidFill>
                  <a:srgbClr val="8F5A44"/>
                </a:solidFill>
                <a:hlinkClick r:id="rId4"/>
              </a:rPr>
              <a:t>Oasis Cali Hostel   </a:t>
            </a:r>
            <a:r>
              <a:rPr sz="1200" u="sng">
                <a:solidFill>
                  <a:srgbClr val="8F5A44"/>
                </a:solidFill>
                <a:hlinkClick r:id="rId5"/>
              </a:rPr>
              <a:t>La Chanca Hostel   </a:t>
            </a:r>
            <a:r>
              <a:rPr sz="1200" u="sng">
                <a:solidFill>
                  <a:srgbClr val="8F5A44"/>
                </a:solidFill>
                <a:hlinkClick r:id="rId6"/>
              </a:rPr>
              <a:t>Hostal Patio del Río   </a:t>
            </a:r>
            <a:r>
              <a:rPr sz="1200" u="sng">
                <a:solidFill>
                  <a:srgbClr val="8F5A44"/>
                </a:solidFill>
                <a:hlinkClick r:id="rId7"/>
              </a:rPr>
              <a:t>Casa/Apto entero   </a:t>
            </a:r>
          </a:p>
          <a:p>
            <a:r>
              <a:rPr sz="1300" b="1">
                <a:solidFill>
                  <a:srgbClr val="8F5A44"/>
                </a:solidFill>
              </a:rPr>
              <a:t>Agencias:  </a:t>
            </a:r>
            <a:r>
              <a:rPr sz="1200" u="sng">
                <a:solidFill>
                  <a:srgbClr val="8F5A44"/>
                </a:solidFill>
                <a:hlinkClick r:id="rId8"/>
              </a:rPr>
              <a:t>Farallones   </a:t>
            </a:r>
            <a:r>
              <a:rPr sz="1200" u="sng">
                <a:solidFill>
                  <a:srgbClr val="8F5A44"/>
                </a:solidFill>
                <a:hlinkClick r:id="rId9"/>
              </a:rPr>
              <a:t>WayCarCali   </a:t>
            </a:r>
            <a:r>
              <a:rPr sz="1200" u="sng">
                <a:solidFill>
                  <a:srgbClr val="8F5A44"/>
                </a:solidFill>
                <a:hlinkClick r:id="rId10"/>
              </a:rPr>
              <a:t>Car Rent   </a:t>
            </a:r>
            <a:r>
              <a:rPr sz="1200" u="sng">
                <a:solidFill>
                  <a:srgbClr val="8F5A44"/>
                </a:solidFill>
                <a:hlinkClick r:id="rId11"/>
              </a:rPr>
              <a:t>Kayak (aeropuerto)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7A6E"/>
                </a:solidFill>
              </a:rPr>
              <a:t>Documentos hermanos: Mini-Boom-en-Cali_Informe-completo.md · Mini-Boom-en-Cali_Resumen-ejecutivo.pdf · Mini-Boom-en-Cali_Resultados.xlsx · Mini-Boom-en-Cali_Presentacion.pptx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