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dPt>
            <c:idx val="4"/>
            <c:spPr>
              <a:solidFill>
                <a:srgbClr val="D8C4B2"/>
              </a:solidFill>
            </c:spPr>
          </c:dPt>
          <c:dPt>
            <c:idx val="5"/>
            <c:spPr>
              <a:solidFill>
                <a:srgbClr val="D8C4B2"/>
              </a:solidFill>
            </c:spPr>
          </c:dPt>
          <c:cat>
            <c:strRef>
              <c:f>Sheet1!$A$2:$A$7</c:f>
              <c:strCache>
                <c:ptCount val="6"/>
                <c:pt idx="0">
                  <c:v>Viajero</c:v>
                </c:pt>
                <c:pt idx="1">
                  <c:v>La Palmera</c:v>
                </c:pt>
                <c:pt idx="2">
                  <c:v>Oasis Cali</c:v>
                </c:pt>
                <c:pt idx="3">
                  <c:v>La Chanca</c:v>
                </c:pt>
                <c:pt idx="4">
                  <c:v>Hostal Patio del Río</c:v>
                </c:pt>
                <c:pt idx="5">
                  <c:v>Casa/Apto entero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77.6</c:v>
                </c:pt>
                <c:pt idx="1">
                  <c:v>75.8</c:v>
                </c:pt>
                <c:pt idx="2">
                  <c:v>75.4</c:v>
                </c:pt>
                <c:pt idx="3">
                  <c:v>74.8</c:v>
                </c:pt>
                <c:pt idx="4">
                  <c:v>72.8</c:v>
                </c:pt>
                <c:pt idx="5">
                  <c:v>71.2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cat>
            <c:strRef>
              <c:f>Sheet1!$A$2:$A$4</c:f>
              <c:strCache>
                <c:ptCount val="3"/>
                <c:pt idx="0">
                  <c:v>Apto cerca Estadio</c:v>
                </c:pt>
                <c:pt idx="1">
                  <c:v>Casa 7p garaje</c:v>
                </c:pt>
                <c:pt idx="2">
                  <c:v>Refugio Vistas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79.2</c:v>
                </c:pt>
                <c:pt idx="1">
                  <c:v>78.4</c:v>
                </c:pt>
                <c:pt idx="2">
                  <c:v>63.2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irbnb.com/rooms/28196917" TargetMode="External"/><Relationship Id="rId3" Type="http://schemas.openxmlformats.org/officeDocument/2006/relationships/hyperlink" Target="https://www.airbnb.com/rooms/38526055" TargetMode="External"/><Relationship Id="rId4" Type="http://schemas.openxmlformats.org/officeDocument/2006/relationships/hyperlink" Target="https://www.airbnb.com/rooms/111239600058056993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rallonesrentacar.com/car-model/captiva-turbo-7-puestos/" TargetMode="External"/><Relationship Id="rId3" Type="http://schemas.openxmlformats.org/officeDocument/2006/relationships/hyperlink" Target="https://farallonesrentacar.com/listavehiculos/" TargetMode="External"/><Relationship Id="rId4" Type="http://schemas.openxmlformats.org/officeDocument/2006/relationships/hyperlink" Target="https://waycarcali.com/" TargetMode="External"/><Relationship Id="rId5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Relationship Id="rId8" Type="http://schemas.openxmlformats.org/officeDocument/2006/relationships/hyperlink" Target="https://farallonesrentacar.com/listavehiculos/" TargetMode="External"/><Relationship Id="rId9" Type="http://schemas.openxmlformats.org/officeDocument/2006/relationships/hyperlink" Target="https://waycarcali.com/" TargetMode="External"/><Relationship Id="rId10" Type="http://schemas.openxmlformats.org/officeDocument/2006/relationships/hyperlink" Target="https://carrent.com.co/alquiler-de-van-en-cali" TargetMode="External"/><Relationship Id="rId11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0" y="502920"/>
            <a:ext cx="4507992" cy="15727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lag_cartagen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658368"/>
            <a:ext cx="1402080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5870448" y="8229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B5765C"/>
                </a:solidFill>
              </a:rPr>
              <a:t>→</a:t>
            </a:r>
          </a:p>
        </p:txBody>
      </p:sp>
      <p:pic>
        <p:nvPicPr>
          <p:cNvPr id="5" name="Picture 4" descr="flag_cali_rg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658368"/>
            <a:ext cx="1261872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6" name="TextBox 5"/>
          <p:cNvSpPr txBox="1"/>
          <p:nvPr/>
        </p:nvSpPr>
        <p:spPr>
          <a:xfrm>
            <a:off x="3840480" y="1572768"/>
            <a:ext cx="450799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8A7A6E"/>
                </a:solidFill>
              </a:rPr>
              <a:t>de Cartagena a Cali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697480"/>
            <a:ext cx="9811512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971800"/>
            <a:ext cx="9235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8F5A44"/>
                </a:solidFill>
              </a:rPr>
              <a:t>Mini-Boom en Cali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069080"/>
            <a:ext cx="9235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8A7A6E"/>
                </a:solidFill>
              </a:rPr>
              <a:t>Dossier de logística · transporte y estadía para siete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41848" y="461772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1848" y="461772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463A32"/>
                </a:solidFill>
              </a:rP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20640"/>
            <a:ext cx="9235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463A32"/>
                </a:solidFill>
              </a:rPr>
              <a:t>7 personas    ·    30 oct – 2 nov 2026 (viernes a lunes · 3 noches)</a:t>
            </a:r>
          </a:p>
          <a:p>
            <a:pPr algn="ctr"/>
            <a:r>
              <a:rPr sz="1200" b="0">
                <a:solidFill>
                  <a:srgbClr val="8A7A6E"/>
                </a:solidFill>
              </a:rPr>
              <a:t>Ida 30 oct: sale 6:00 pm de Cartagena, llega 8:00 pm · regreso en vuelo 9:00 pm del 2 nov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🧭   Punto de partida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grupo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7 personas · 3 noches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11112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🗓️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5552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Las fechas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30 oct – 2 nov · llega 8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presupuesto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$300–400k p/p · flex $480k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11112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 prioridad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Seguridad, siempre primero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🧪   Cómo se hizo esto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1732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La vara primero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Pesos de cada criterio (seguridad al frente) antes de ver un solo precio.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5196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Precios reales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Un robot recorrió Hostelworld con las fechas reales; el transporte, contra Kayak y locales.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8660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Puntaje propio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Nota de 1 a 5 por criterio × su peso, auditable; aparte del rating externo.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2124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Una sola fuente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Los mismos datos generan los 4 documentos: cambiar un número los actualiza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🎯   Cómo se puntuó la estadía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La calificación de huéspedes (9.6, 9.8…) es externa. El puntaje 0–100 es propio: nota 1–5 por criterio × su peso.   Puntaje = suma de (peso × nota⁄5).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🔒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Seguridad del barrio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Por zona (San Antonio / Granada = 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✨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6712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Amenidades y comodidad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Aire +2, piscina +2, cocina 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64424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4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💰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7464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Precio por persona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Más barato = 5; lineal al más caro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📍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Cercanía a zona turística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Qué tan a pie de lo turístico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33672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🅿️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6712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Parqueadero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Disponibilidad estimada (baja certeza)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🎉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Ambiente social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Facilidad para conocer gente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los finalistas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2834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8F5A44"/>
                </a:solidFill>
              </a:rPr>
              <a:t>★ Viajero Hostel &amp; Salsa School</a:t>
            </a:r>
          </a:p>
          <a:p>
            <a:pPr algn="l"/>
            <a:r>
              <a:rPr sz="1500" b="0">
                <a:solidFill>
                  <a:srgbClr val="463A32"/>
                </a:solidFill>
              </a:rPr>
              <a:t>lidera con 77.6/100.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Puntaje propio (seguridad, amenidades, precio, cercanía, parqueo, social), no el rating externo.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Ordenadas por nuestro puntaje. 'Por persona' = las 3 noches. Toca 'ver' para revisar cada una.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745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011680"/>
                <a:gridCol w="1280160"/>
                <a:gridCol w="1783080"/>
                <a:gridCol w="1810512"/>
                <a:gridCol w="822960"/>
              </a:tblGrid>
              <a:tr h="58782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Hostal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Zona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Precio/noche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Viajero Hostel &amp; Salsa School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77.6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$84.094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$252.282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Palmera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Oasis Cali Hostel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Granada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Chanca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74.8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$29.950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$89.850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Hostal Patio del Río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Oeste (Cali)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$63.250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$189.750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6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Casa/Apto entero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 (Oeste)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71.2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$300.000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7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🛏️   Airbnb (noroeste/oeste) — ranking por puntaje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8F5A44"/>
                </a:solidFill>
              </a:rPr>
              <a:t>★ Apto cerca Estadio</a:t>
            </a:r>
          </a:p>
          <a:p>
            <a:pPr algn="l"/>
            <a:r>
              <a:rPr sz="1500" b="0">
                <a:solidFill>
                  <a:srgbClr val="463A32"/>
                </a:solidFill>
              </a:rPr>
              <a:t>lidera con 79.2/100.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A ~1.9 km de la rumba. Con carro local ≈ $286.407 pp.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8A7A6E"/>
                </a:solidFill>
              </a:rPr>
              <a:t>Ubicación verificada por coordenadas. Confirmar disponibilidad del 30.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🛏️   Airbnb (noroeste/oeste) —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Alojamiento entero (ningún baño se comparte). «Dist.» = km a la zona de actividades (coordenadas). Aire «según anuncio» y disponibilidad del 30: confirmar.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7455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737360"/>
                <a:gridCol w="1188720"/>
                <a:gridCol w="914400"/>
                <a:gridCol w="914400"/>
                <a:gridCol w="1856231"/>
                <a:gridCol w="731520"/>
              </a:tblGrid>
              <a:tr h="982980"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Casa / apto entero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Sector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Dist. act.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Baños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Apto cerca Estadio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Oeste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~1.9 km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79.2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$86.407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Casa 7p garaje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Centro-oeste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~3.6 km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78.4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2,5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$90.714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Refugio Vistas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Oeste (ladera)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~2.4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63.2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$282.068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🌙   La llegada es de noche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0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3 días limpios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Recoger esa noche y devolver ~7 pm del 2: por debajo de las 72 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59552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Local = cuadra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Farallones / WayCarCali entregan el carro coordinando el vuelo de las 8 pm.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90304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8744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= ojo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Alamo / Localiza: más baratos, pero cierran ~10 pm. Reservar fuera de horario (24 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Red de seguridad: los taxis oficiales del aeropuerto operan 24/7 (distintivo amarillo, tarifados).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🚗   Cómo moverse — tres opciones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32588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463A32"/>
                </a:solidFill>
              </a:rPr>
              <a:t>★ Recomendado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Carro local (entrega)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$200.000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Cuadra con la llegada de noche; libertad para salir de Cali.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(Kayak)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$180.000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Más barato, pero el mostrador cierra ~10 pm.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Sin carro propio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$125.000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Lo más barato: taxis + una van con conductor para el paseo.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🚙   Opciones de vehículo (7 puestos)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Lo que cambia según dónde se recoja: local (entrega, cuadra con la llegada) vs mostrador (más barato, horario rígido).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965960"/>
                <a:gridCol w="1828800"/>
                <a:gridCol w="1600200"/>
                <a:gridCol w="2834640"/>
                <a:gridCol w="731520"/>
              </a:tblGrid>
              <a:tr h="522514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Vehículo (7 puestos)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Agencia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Tarifa (3 días)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Por persona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¿Cuadra con la llegada?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Chevrolet Captiva Turbo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~$1.200.000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$171.429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oficina en el aeropuerto y domicilio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Toyota Fortuner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$1.140.000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$162.857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Mitsubishi Montero Sport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$705.000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$100.714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7 puestos (varios modelos)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WayCarCali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$360.000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$51.429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domicilio gratis al aeropuerto (3+ días)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Nissan X-Trail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EconomyBookings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$1.033.028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$147.575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SUV mediano híbrido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Alkilautos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$1.847.639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$263.948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338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8F5A44"/>
                </a:solidFill>
              </a:rPr>
              <a:t>Todos los precios son por los 3 días, solo el alquiler (sin gasolina ni parqueo). Las tarifas locales 'desde' se calculan sobre la tarifa base/día × 3; en alquiler corto el total real suele ser mayor (la Captiva, confirmada, cuesta ~$1.200.000) — pidan el exacto por WhatsApp. Lo clave sigue siendo el horario: las locales entregan coordinando el vuelo; los mostradores cierran ~10 pm.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8F5A44"/>
                </a:solidFill>
              </a:rPr>
              <a:t>🏆  La recomendación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80160" y="1600200"/>
            <a:ext cx="9628632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828800"/>
            <a:ext cx="90525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463A32"/>
                </a:solidFill>
              </a:rPr>
              <a:t>Viajero Hostel &amp; Salsa School  +  carro local (entrega coordinada)</a:t>
            </a:r>
          </a:p>
          <a:p>
            <a:pPr algn="ctr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3000" b="1">
                <a:solidFill>
                  <a:srgbClr val="8F5A44"/>
                </a:solidFill>
              </a:rPr>
              <a:t>≈ $452.282 por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Mostrador (Kayak): $432.282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Sin carro propio: $377.282 (en meta)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En meta de estadía: Patio del Río $389.750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El hostal dice sí a todo (seguridad, piscina, aire, bar, rumba y salsa); el carro local da libertad sin pelear con el horario.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📋   Antes de reservar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Estadía: ¿precio por persona o por habitación? Y capacidad para 7 (camas ≥5).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37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Carro: cotizar por WhatsApp la entrega en el aeropuerto coordinando el vuelo de las 8 pm, y el total de 3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Si usan el mostrador (Kayak): reservar recogida fuera de horario (24 h) por si el vuelo se retrasa.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37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Reservar pronto: cuatro semanas y fin de semana de Halloween.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8F5A44"/>
                </a:solidFill>
              </a:rPr>
              <a:t>Estadía:  </a:t>
            </a:r>
            <a:r>
              <a:rPr sz="1200" u="sng">
                <a:solidFill>
                  <a:srgbClr val="8F5A44"/>
                </a:solidFill>
                <a:hlinkClick r:id="rId2"/>
              </a:rPr>
              <a:t>Viajero Hostel &amp; Salsa School   </a:t>
            </a:r>
            <a:r>
              <a:rPr sz="1200" u="sng">
                <a:solidFill>
                  <a:srgbClr val="8F5A44"/>
                </a:solidFill>
                <a:hlinkClick r:id="rId3"/>
              </a:rPr>
              <a:t>La Palmera Hostel   </a:t>
            </a:r>
            <a:r>
              <a:rPr sz="1200" u="sng">
                <a:solidFill>
                  <a:srgbClr val="8F5A44"/>
                </a:solidFill>
                <a:hlinkClick r:id="rId4"/>
              </a:rPr>
              <a:t>Oasis Cali Hostel   </a:t>
            </a:r>
            <a:r>
              <a:rPr sz="1200" u="sng">
                <a:solidFill>
                  <a:srgbClr val="8F5A44"/>
                </a:solidFill>
                <a:hlinkClick r:id="rId5"/>
              </a:rPr>
              <a:t>La Chanca Hostel   </a:t>
            </a:r>
            <a:r>
              <a:rPr sz="1200" u="sng">
                <a:solidFill>
                  <a:srgbClr val="8F5A44"/>
                </a:solidFill>
                <a:hlinkClick r:id="rId6"/>
              </a:rPr>
              <a:t>Hostal Patio del Río   </a:t>
            </a:r>
            <a:r>
              <a:rPr sz="1200" u="sng">
                <a:solidFill>
                  <a:srgbClr val="8F5A44"/>
                </a:solidFill>
                <a:hlinkClick r:id="rId7"/>
              </a:rPr>
              <a:t>Casa/Apto entero   </a:t>
            </a:r>
          </a:p>
          <a:p>
            <a:r>
              <a:rPr sz="1300" b="1">
                <a:solidFill>
                  <a:srgbClr val="8F5A44"/>
                </a:solidFill>
              </a:rPr>
              <a:t>Agencias:  </a:t>
            </a:r>
            <a:r>
              <a:rPr sz="1200" u="sng">
                <a:solidFill>
                  <a:srgbClr val="8F5A44"/>
                </a:solidFill>
                <a:hlinkClick r:id="rId8"/>
              </a:rPr>
              <a:t>Farallones   </a:t>
            </a:r>
            <a:r>
              <a:rPr sz="1200" u="sng">
                <a:solidFill>
                  <a:srgbClr val="8F5A44"/>
                </a:solidFill>
                <a:hlinkClick r:id="rId9"/>
              </a:rPr>
              <a:t>WayCarCali   </a:t>
            </a:r>
            <a:r>
              <a:rPr sz="1200" u="sng">
                <a:solidFill>
                  <a:srgbClr val="8F5A44"/>
                </a:solidFill>
                <a:hlinkClick r:id="rId10"/>
              </a:rPr>
              <a:t>Car Rent   </a:t>
            </a:r>
            <a:r>
              <a:rPr sz="1200" u="sng">
                <a:solidFill>
                  <a:srgbClr val="8F5A44"/>
                </a:solidFill>
                <a:hlinkClick r:id="rId11"/>
              </a:rPr>
              <a:t>Kayak (aeropuerto)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7A6E"/>
                </a:solidFill>
              </a:rPr>
              <a:t>Documentos hermanos: Mini-Boom-en-Cali_Informe-completo.md · Mini-Boom-en-Cali_Resumen-ejecutivo.pdf · Mini-Boom-en-Cali_Resultados.xlsx · Mini-Boom-en-Cali_Presentacion.pptx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